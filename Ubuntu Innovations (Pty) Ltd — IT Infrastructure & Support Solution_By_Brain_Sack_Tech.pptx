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5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6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F20E8-8159-45B1-B001-45A5F9EECA3E}" type="datetimeFigureOut">
              <a:t>10/9/2026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7CE34E-CFC6-4F29-8342-7484BE05F74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1514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Welcome the panel and introduce Team Brain Sack Tech in one breath • Client: Ubuntu Innovations (Pty) Ltd, a fast-growing Cape Town start-up moving into a new office • Team of four: Sinalo, Mbali, Luthando, Masibulele — each owns one domain of the project • Preview: in the next 10 minutes we cover infrastructure, segmentation, security, support and risk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Who the client is: Ubuntu Innovations, 25 people across 5 departments, relocating to a new Cape Town office • They need a fully documented IT infrastructure and support plan from day one • Our scope: 6 deliverables delivered in 3 weeks • The department roster sets up the permissions story on the next slide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Requirements analysis: connectivity, storage and printing for every department • Least privilege — access follows the job, not the person • POPIA drives how personal information is classified and handled • Proof, not promises: 19/19 permission tests passed on a live Ubuntu VM — Finance can’t see HR, Sales can’t see Development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Walk the physical stack: 20 desktops + 5 laptops, Meraki firewall + 48-port switch, 8 TB Synology NAS in RAID 1 • Six VLANs segment servers, users, printers, staff Wi-Fi, guest Wi-Fi and management • Guest Wi-Fi is fully isolated from internal networks • LTE/5G failover keeps the office online if fibre drops • Topology comes straight from our Week 1 design, not redrawn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Six segments keep servers, users, printers, Wi-Fi and management apart — a breach in one can't roam • One clean /24 per VLAN makes the plan easy to read, document and firewall • Default–deny posture: 12 documented rules allow only what the business needs • 32 devices in the address register — zero conflicts during lab testing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Only two standard builds: a Windows 11 office stack and an Ubuntu LTS developer stack • Windows side: managed centrally with Intune, Defender for Business on all 17 devices • Developer side: one documented build script — any machine reproducible in minutes • Patch cadence: 48h critical / 7d high / 30d medium, tracked against the 29-product inventory • Zero licences bought without a documented need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3-2-1 in practice: live NAS + local backup drive + encrypted cloud copy • Recovery targets: 4-hour RTO for critical systems, 1-hour RPO via snapshots, 31 restore tests a year • Password policy follows current NIST guidance — 12+ character passphrases, no forced 90-day resets • MFA on every sign-in; disk encryption and antivirus on every device • Close on defence in depth: 6 layers, no single control trusted alone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Folder tree mirrors the Permissions Matrix exactly — 6 department folders, 24 subfolders • 5 documented troubleshooting cases: every ticket logs symptoms, causes, steps and resolution • Walk the top risks: phishing high/high, ransomware medium/high, hardware failure, power outage • Mention the 7+ self-identified risks — stolen credentials, insider misuse, a lapsed licence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Run the six stages briskly: Detection → Reporting → Containment → Eradication → Recovery → Lessons learned • Stress the plan is documented before an incident, not improvised • Lesson 1: the Ubuntu lab caught real gaps that looked fine on paper • Lesson 2: one VPN assumption had to be corrected across several files • Lesson 3: security is a system — passwords, MFA, backups and segmentation work together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• Thank the panel for their time and attention • Invite questions on any deliverable — network plan, policies, risk register, documentation • One-line reminder of the team: Sinalo, Mbali, Luthando, Masibulele • Close on the client scenario: Ubuntu Innovations' new office, ready from day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050"/>
            <a:ext cx="314325" cy="3143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0061" y="432911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F7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4" name="Text 1"/>
          <p:cNvSpPr/>
          <p:nvPr/>
        </p:nvSpPr>
        <p:spPr>
          <a:xfrm>
            <a:off x="871538" y="487561"/>
            <a:ext cx="781526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kern="0" spc="17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 INNOVATIONS </a:t>
            </a:r>
            <a:r>
              <a:rPr lang="en-US" sz="800" kern="0" spc="176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(PTY) LTD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457200" y="885825"/>
            <a:ext cx="8636000" cy="1101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16"/>
              </a:lnSpc>
              <a:buNone/>
            </a:pPr>
            <a:r>
              <a:rPr lang="en-US" sz="3825" b="1" kern="0" spc="-11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and Implementation of an </a:t>
            </a:r>
            <a:r>
              <a:rPr lang="en-US" sz="3825" b="1" kern="0" spc="-115" dirty="0">
                <a:solidFill>
                  <a:srgbClr val="F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</a:t>
            </a:r>
            <a:endParaRPr lang="en-US" sz="3825" dirty="0"/>
          </a:p>
          <a:p>
            <a:pPr marL="0" indent="0" algn="l">
              <a:lnSpc>
                <a:spcPts val="4016"/>
              </a:lnSpc>
              <a:buNone/>
            </a:pPr>
            <a:r>
              <a:rPr lang="en-US" sz="3825" b="1" kern="0" spc="-115" dirty="0">
                <a:solidFill>
                  <a:srgbClr val="F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r>
              <a:rPr lang="en-US" sz="3825" b="1" kern="0" spc="-11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and Support Solution</a:t>
            </a:r>
            <a:endParaRPr lang="en-US" sz="3825" dirty="0"/>
          </a:p>
        </p:txBody>
      </p:sp>
      <p:sp>
        <p:nvSpPr>
          <p:cNvPr id="6" name="Text 3"/>
          <p:cNvSpPr/>
          <p:nvPr/>
        </p:nvSpPr>
        <p:spPr>
          <a:xfrm>
            <a:off x="457200" y="2020119"/>
            <a:ext cx="8229600" cy="2051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96"/>
              </a:lnSpc>
              <a:buNone/>
            </a:pPr>
            <a:r>
              <a:rPr lang="en-US" sz="1069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Support Professional Certificate Capstone — Team Brain Sack Tech</a:t>
            </a:r>
            <a:endParaRPr lang="en-US" sz="1069" dirty="0"/>
          </a:p>
        </p:txBody>
      </p:sp>
      <p:sp>
        <p:nvSpPr>
          <p:cNvPr id="7" name="Text 4"/>
          <p:cNvSpPr/>
          <p:nvPr/>
        </p:nvSpPr>
        <p:spPr>
          <a:xfrm>
            <a:off x="460772" y="2385120"/>
            <a:ext cx="1943100" cy="669727"/>
          </a:xfrm>
          <a:prstGeom prst="roundRect">
            <a:avLst>
              <a:gd name="adj" fmla="val 2844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2577108"/>
            <a:ext cx="285750" cy="28575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78644" y="2577108"/>
            <a:ext cx="3286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</a:t>
            </a:r>
            <a:endParaRPr lang="en-US" sz="1069" dirty="0"/>
          </a:p>
        </p:txBody>
      </p:sp>
      <p:sp>
        <p:nvSpPr>
          <p:cNvPr id="10" name="Text 6"/>
          <p:cNvSpPr/>
          <p:nvPr/>
        </p:nvSpPr>
        <p:spPr>
          <a:xfrm>
            <a:off x="950119" y="2502991"/>
            <a:ext cx="133588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Sinalo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950119" y="2695873"/>
            <a:ext cx="1335881" cy="241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Project Manager &amp; Business Analyst</a:t>
            </a:r>
            <a:endParaRPr lang="en-US" sz="800" dirty="0"/>
          </a:p>
        </p:txBody>
      </p:sp>
      <p:sp>
        <p:nvSpPr>
          <p:cNvPr id="12" name="Text 8"/>
          <p:cNvSpPr/>
          <p:nvPr/>
        </p:nvSpPr>
        <p:spPr>
          <a:xfrm>
            <a:off x="2511028" y="2385120"/>
            <a:ext cx="1943100" cy="669727"/>
          </a:xfrm>
          <a:prstGeom prst="roundRect">
            <a:avLst>
              <a:gd name="adj" fmla="val 28444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2577108"/>
            <a:ext cx="285750" cy="28575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628900" y="2577108"/>
            <a:ext cx="3286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69" dirty="0"/>
          </a:p>
        </p:txBody>
      </p:sp>
      <p:sp>
        <p:nvSpPr>
          <p:cNvPr id="15" name="Text 10"/>
          <p:cNvSpPr/>
          <p:nvPr/>
        </p:nvSpPr>
        <p:spPr>
          <a:xfrm>
            <a:off x="3000375" y="2563267"/>
            <a:ext cx="133588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Mbali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3000375" y="2756148"/>
            <a:ext cx="1356076" cy="1481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Network Planner / Administrator</a:t>
            </a:r>
            <a:endParaRPr lang="en-US" sz="703" dirty="0"/>
          </a:p>
        </p:txBody>
      </p:sp>
      <p:sp>
        <p:nvSpPr>
          <p:cNvPr id="17" name="Text 12"/>
          <p:cNvSpPr/>
          <p:nvPr/>
        </p:nvSpPr>
        <p:spPr>
          <a:xfrm>
            <a:off x="460772" y="3162002"/>
            <a:ext cx="1943100" cy="549176"/>
          </a:xfrm>
          <a:prstGeom prst="roundRect">
            <a:avLst>
              <a:gd name="adj" fmla="val 3468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644" y="3293715"/>
            <a:ext cx="285750" cy="28575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578644" y="3293715"/>
            <a:ext cx="3286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</a:t>
            </a:r>
            <a:endParaRPr lang="en-US" sz="1069" dirty="0"/>
          </a:p>
        </p:txBody>
      </p:sp>
      <p:sp>
        <p:nvSpPr>
          <p:cNvPr id="20" name="Text 14"/>
          <p:cNvSpPr/>
          <p:nvPr/>
        </p:nvSpPr>
        <p:spPr>
          <a:xfrm>
            <a:off x="950119" y="3279874"/>
            <a:ext cx="1335881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Luthando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50119" y="3472755"/>
            <a:ext cx="1415083" cy="1205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Systems &amp; Security Administrator</a:t>
            </a:r>
            <a:endParaRPr lang="en-US" sz="703" dirty="0"/>
          </a:p>
        </p:txBody>
      </p:sp>
      <p:sp>
        <p:nvSpPr>
          <p:cNvPr id="22" name="Text 16"/>
          <p:cNvSpPr/>
          <p:nvPr/>
        </p:nvSpPr>
        <p:spPr>
          <a:xfrm>
            <a:off x="2511028" y="3162002"/>
            <a:ext cx="1943100" cy="549176"/>
          </a:xfrm>
          <a:prstGeom prst="roundRect">
            <a:avLst>
              <a:gd name="adj" fmla="val 3468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28900" y="3293715"/>
            <a:ext cx="285750" cy="28575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2628900" y="3293715"/>
            <a:ext cx="328613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603"/>
              </a:lnSpc>
              <a:buNone/>
            </a:pPr>
            <a:r>
              <a:rPr lang="en-US" sz="1069" b="1" dirty="0">
                <a:solidFill>
                  <a:srgbClr val="FFF7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</a:t>
            </a:r>
            <a:endParaRPr lang="en-US" sz="1069" dirty="0"/>
          </a:p>
        </p:txBody>
      </p:sp>
      <p:sp>
        <p:nvSpPr>
          <p:cNvPr id="25" name="Text 18"/>
          <p:cNvSpPr/>
          <p:nvPr/>
        </p:nvSpPr>
        <p:spPr>
          <a:xfrm>
            <a:off x="3000375" y="3279874"/>
            <a:ext cx="1260319" cy="16544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Masibulele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3000375" y="3472755"/>
            <a:ext cx="1182893" cy="1205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49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IT Support &amp; Risk Manager</a:t>
            </a:r>
            <a:endParaRPr lang="en-US" sz="703" dirty="0"/>
          </a:p>
        </p:txBody>
      </p:sp>
      <p:sp>
        <p:nvSpPr>
          <p:cNvPr id="27" name="Text 20"/>
          <p:cNvSpPr/>
          <p:nvPr/>
        </p:nvSpPr>
        <p:spPr>
          <a:xfrm>
            <a:off x="460772" y="4494312"/>
            <a:ext cx="1570620" cy="241102"/>
          </a:xfrm>
          <a:prstGeom prst="roundRect">
            <a:avLst>
              <a:gd name="adj" fmla="val 3946660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1"/>
          <p:cNvSpPr/>
          <p:nvPr/>
        </p:nvSpPr>
        <p:spPr>
          <a:xfrm>
            <a:off x="721519" y="4562177"/>
            <a:ext cx="1206289" cy="122895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10-minute project presentation</a:t>
            </a:r>
            <a:endParaRPr lang="en-US" sz="703" dirty="0"/>
          </a:p>
        </p:txBody>
      </p:sp>
      <p:sp>
        <p:nvSpPr>
          <p:cNvPr id="29" name="Text 22"/>
          <p:cNvSpPr/>
          <p:nvPr/>
        </p:nvSpPr>
        <p:spPr>
          <a:xfrm>
            <a:off x="564356" y="4561284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055" dirty="0"/>
          </a:p>
        </p:txBody>
      </p:sp>
      <p:pic>
        <p:nvPicPr>
          <p:cNvPr id="30" name="Image 5" descr="/tmp/h2p-fit-1791279093177-wpo2l6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57725" y="2381548"/>
            <a:ext cx="4029075" cy="2357438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4031"/>
            <a:ext cx="1001911" cy="263133"/>
          </a:xfrm>
          <a:prstGeom prst="roundRect">
            <a:avLst>
              <a:gd name="adj" fmla="val 3616223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6833"/>
            <a:ext cx="1001911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kern="0" spc="104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INTRODUCTION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544836" y="358673"/>
            <a:ext cx="1172914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51992" y="470595"/>
            <a:ext cx="50006" cy="50006"/>
          </a:xfrm>
          <a:prstGeom prst="roundRect">
            <a:avLst>
              <a:gd name="adj" fmla="val 66667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59148" y="442913"/>
            <a:ext cx="6927652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51992" y="470595"/>
            <a:ext cx="50006" cy="50006"/>
          </a:xfrm>
          <a:prstGeom prst="ellipse">
            <a:avLst/>
          </a:prstGeom>
          <a:solidFill>
            <a:srgbClr val="A78BFA"/>
          </a:solidFill>
          <a:ln/>
          <a:effectLst>
            <a:outerShdw blurRad="95250" dist="50800" dir="16200000" algn="bl" rotWithShape="0">
              <a:srgbClr val="A78BFA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91320" y="428625"/>
            <a:ext cx="37054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Sinalo</a:t>
            </a:r>
            <a:endParaRPr lang="en-US" sz="703" dirty="0"/>
          </a:p>
        </p:txBody>
      </p:sp>
      <p:sp>
        <p:nvSpPr>
          <p:cNvPr id="9" name="Text 7"/>
          <p:cNvSpPr/>
          <p:nvPr/>
        </p:nvSpPr>
        <p:spPr>
          <a:xfrm>
            <a:off x="457200" y="734020"/>
            <a:ext cx="8636000" cy="4332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9"/>
              </a:lnSpc>
              <a:buNone/>
            </a:pPr>
            <a:r>
              <a:rPr lang="en-US" sz="2925" b="1" kern="0" spc="-5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business case</a:t>
            </a:r>
            <a:endParaRPr lang="en-US" sz="2925" dirty="0"/>
          </a:p>
        </p:txBody>
      </p:sp>
      <p:sp>
        <p:nvSpPr>
          <p:cNvPr id="10" name="Text 8"/>
          <p:cNvSpPr/>
          <p:nvPr/>
        </p:nvSpPr>
        <p:spPr>
          <a:xfrm>
            <a:off x="457200" y="1320924"/>
            <a:ext cx="4345543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 Innovations (Pty) Ltd</a:t>
            </a:r>
            <a:endParaRPr lang="en-US" sz="1181" dirty="0"/>
          </a:p>
        </p:txBody>
      </p:sp>
      <p:sp>
        <p:nvSpPr>
          <p:cNvPr id="11" name="Text 9"/>
          <p:cNvSpPr/>
          <p:nvPr/>
        </p:nvSpPr>
        <p:spPr>
          <a:xfrm>
            <a:off x="457200" y="1617390"/>
            <a:ext cx="3950494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1"/>
              </a:lnSpc>
              <a:buNone/>
            </a:pPr>
            <a:r>
              <a:rPr lang="en-US" sz="872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fast-growing Cape Town tech start-up, relocating to a new office and in need of a fully documented IT infrastructure and support plan from day one.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460772" y="2092672"/>
            <a:ext cx="1918097" cy="739713"/>
          </a:xfrm>
          <a:prstGeom prst="roundRect">
            <a:avLst>
              <a:gd name="adj" fmla="val 2575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2931" y="2210544"/>
            <a:ext cx="165377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25</a:t>
            </a:r>
            <a:endParaRPr lang="en-US" sz="2475" dirty="0"/>
          </a:p>
        </p:txBody>
      </p:sp>
      <p:sp>
        <p:nvSpPr>
          <p:cNvPr id="14" name="Text 12"/>
          <p:cNvSpPr/>
          <p:nvPr/>
        </p:nvSpPr>
        <p:spPr>
          <a:xfrm>
            <a:off x="592931" y="2589163"/>
            <a:ext cx="1653778" cy="1253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employees, 5 departments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486025" y="2092672"/>
            <a:ext cx="1918097" cy="739713"/>
          </a:xfrm>
          <a:prstGeom prst="roundRect">
            <a:avLst>
              <a:gd name="adj" fmla="val 2575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618184" y="2210544"/>
            <a:ext cx="165377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75"/>
              </a:lnSpc>
              <a:buNone/>
            </a:pPr>
            <a:r>
              <a:rPr lang="en-US" sz="2475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2618184" y="2589163"/>
            <a:ext cx="1753005" cy="12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deliverables across 3 weeks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60772" y="2953829"/>
            <a:ext cx="3943350" cy="1610358"/>
          </a:xfrm>
          <a:prstGeom prst="roundRect">
            <a:avLst>
              <a:gd name="adj" fmla="val 1183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92931" y="2985976"/>
            <a:ext cx="3679031" cy="170807"/>
          </a:xfrm>
          <a:prstGeom prst="rect">
            <a:avLst/>
          </a:prstGeom>
          <a:noFill/>
          <a:ln/>
        </p:spPr>
        <p:txBody>
          <a:bodyPr wrap="none" lIns="0" tIns="71438" rIns="0" bIns="14288" rtlCol="0" anchor="t">
            <a:normAutofit fontScale="25000" lnSpcReduction="20000"/>
          </a:bodyPr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106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92931" y="3227077"/>
            <a:ext cx="3611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Management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206154" y="3221720"/>
            <a:ext cx="115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2" name="Shape 20"/>
          <p:cNvSpPr/>
          <p:nvPr/>
        </p:nvSpPr>
        <p:spPr>
          <a:xfrm>
            <a:off x="592931" y="3423531"/>
            <a:ext cx="3679031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21"/>
          <p:cNvSpPr/>
          <p:nvPr/>
        </p:nvSpPr>
        <p:spPr>
          <a:xfrm>
            <a:off x="592931" y="3466393"/>
            <a:ext cx="3611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Finance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206154" y="3461035"/>
            <a:ext cx="115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25" name="Shape 23"/>
          <p:cNvSpPr/>
          <p:nvPr/>
        </p:nvSpPr>
        <p:spPr>
          <a:xfrm>
            <a:off x="592931" y="3659274"/>
            <a:ext cx="3679031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592931" y="3702137"/>
            <a:ext cx="3611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Human Resources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4206154" y="3696779"/>
            <a:ext cx="115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8" name="Shape 26"/>
          <p:cNvSpPr/>
          <p:nvPr/>
        </p:nvSpPr>
        <p:spPr>
          <a:xfrm>
            <a:off x="592931" y="3895018"/>
            <a:ext cx="3679031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9" name="Text 27"/>
          <p:cNvSpPr/>
          <p:nvPr/>
        </p:nvSpPr>
        <p:spPr>
          <a:xfrm>
            <a:off x="592931" y="3937881"/>
            <a:ext cx="3611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Sales &amp; Marketing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206154" y="3932523"/>
            <a:ext cx="115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</a:t>
            </a:r>
            <a:endParaRPr lang="en-US" sz="844" dirty="0"/>
          </a:p>
        </p:txBody>
      </p:sp>
      <p:sp>
        <p:nvSpPr>
          <p:cNvPr id="31" name="Shape 29"/>
          <p:cNvSpPr/>
          <p:nvPr/>
        </p:nvSpPr>
        <p:spPr>
          <a:xfrm>
            <a:off x="592931" y="4130762"/>
            <a:ext cx="3679031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592931" y="4173624"/>
            <a:ext cx="361116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Software Development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206154" y="4168267"/>
            <a:ext cx="115900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</a:t>
            </a:r>
            <a:endParaRPr lang="en-US" sz="844" dirty="0"/>
          </a:p>
        </p:txBody>
      </p:sp>
      <p:pic>
        <p:nvPicPr>
          <p:cNvPr id="34" name="Image 0" descr="/tmp/h2p-fit-1791279093131-p91sg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4869" y="1320924"/>
            <a:ext cx="4021931" cy="2000250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35" name="Text 32"/>
          <p:cNvSpPr/>
          <p:nvPr/>
        </p:nvSpPr>
        <p:spPr>
          <a:xfrm>
            <a:off x="4668441" y="3439046"/>
            <a:ext cx="4014788" cy="1125141"/>
          </a:xfrm>
          <a:prstGeom prst="roundRect">
            <a:avLst>
              <a:gd name="adj" fmla="val 16931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4814888" y="3588172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✓</a:t>
            </a:r>
            <a:endParaRPr lang="en-US" sz="1406" dirty="0"/>
          </a:p>
        </p:txBody>
      </p:sp>
      <p:sp>
        <p:nvSpPr>
          <p:cNvPr id="37" name="Text 34"/>
          <p:cNvSpPr/>
          <p:nvPr/>
        </p:nvSpPr>
        <p:spPr>
          <a:xfrm>
            <a:off x="5029200" y="3571205"/>
            <a:ext cx="3507581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we were asked to design</a:t>
            </a:r>
            <a:endParaRPr lang="en-US" sz="928" dirty="0"/>
          </a:p>
        </p:txBody>
      </p:sp>
      <p:sp>
        <p:nvSpPr>
          <p:cNvPr id="38" name="Text 35"/>
          <p:cNvSpPr/>
          <p:nvPr/>
        </p:nvSpPr>
        <p:spPr>
          <a:xfrm>
            <a:off x="4814888" y="3883744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950619" y="3840882"/>
            <a:ext cx="35861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Secure wired &amp; wireless connectivity, shared storage with access control</a:t>
            </a:r>
            <a:endParaRPr lang="en-US" sz="759" dirty="0"/>
          </a:p>
        </p:txBody>
      </p:sp>
      <p:sp>
        <p:nvSpPr>
          <p:cNvPr id="40" name="Text 37"/>
          <p:cNvSpPr/>
          <p:nvPr/>
        </p:nvSpPr>
        <p:spPr>
          <a:xfrm>
            <a:off x="4814888" y="4106987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8"/>
          <p:cNvSpPr/>
          <p:nvPr/>
        </p:nvSpPr>
        <p:spPr>
          <a:xfrm>
            <a:off x="4950619" y="4064124"/>
            <a:ext cx="35861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real backup/recovery plan and protection against phishing &amp; ransomware</a:t>
            </a:r>
            <a:endParaRPr lang="en-US" sz="759" dirty="0"/>
          </a:p>
        </p:txBody>
      </p:sp>
      <p:sp>
        <p:nvSpPr>
          <p:cNvPr id="42" name="Text 39"/>
          <p:cNvSpPr/>
          <p:nvPr/>
        </p:nvSpPr>
        <p:spPr>
          <a:xfrm>
            <a:off x="4814888" y="4330229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40"/>
          <p:cNvSpPr/>
          <p:nvPr/>
        </p:nvSpPr>
        <p:spPr>
          <a:xfrm>
            <a:off x="4950619" y="4287366"/>
            <a:ext cx="3586163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Documentation future IT staff can use — costed and presentable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2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38652" y="4772025"/>
            <a:ext cx="2585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14375" y="4795242"/>
            <a:ext cx="204225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31" dirty="0"/>
          </a:p>
        </p:txBody>
      </p:sp>
      <p:sp>
        <p:nvSpPr>
          <p:cNvPr id="48" name="Text 45"/>
          <p:cNvSpPr/>
          <p:nvPr/>
        </p:nvSpPr>
        <p:spPr>
          <a:xfrm>
            <a:off x="8349928" y="4789884"/>
            <a:ext cx="373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788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10</a:t>
            </a:r>
            <a:endParaRPr lang="en-US" sz="788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4031"/>
            <a:ext cx="955253" cy="263133"/>
          </a:xfrm>
          <a:prstGeom prst="roundRect">
            <a:avLst>
              <a:gd name="adj" fmla="val 3616223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6833"/>
            <a:ext cx="955253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kern="0" spc="104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FOUNDATIONS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498178" y="358673"/>
            <a:ext cx="1172914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5335" y="470595"/>
            <a:ext cx="50006" cy="50006"/>
          </a:xfrm>
          <a:prstGeom prst="roundRect">
            <a:avLst>
              <a:gd name="adj" fmla="val 66667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712491" y="442913"/>
            <a:ext cx="6974309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05335" y="470595"/>
            <a:ext cx="50006" cy="50006"/>
          </a:xfrm>
          <a:prstGeom prst="ellipse">
            <a:avLst/>
          </a:prstGeom>
          <a:solidFill>
            <a:srgbClr val="A78BFA"/>
          </a:solidFill>
          <a:ln/>
          <a:effectLst>
            <a:outerShdw blurRad="95250" dist="50800" dir="16200000" algn="bl" rotWithShape="0">
              <a:srgbClr val="A78BFA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244662" y="428625"/>
            <a:ext cx="370546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Sinalo</a:t>
            </a:r>
            <a:endParaRPr lang="en-US" sz="703" dirty="0"/>
          </a:p>
        </p:txBody>
      </p:sp>
      <p:sp>
        <p:nvSpPr>
          <p:cNvPr id="9" name="Text 7"/>
          <p:cNvSpPr/>
          <p:nvPr/>
        </p:nvSpPr>
        <p:spPr>
          <a:xfrm>
            <a:off x="457200" y="734020"/>
            <a:ext cx="8636000" cy="43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9"/>
              </a:lnSpc>
              <a:buNone/>
            </a:pPr>
            <a:r>
              <a:rPr lang="en-US" sz="2925" b="1" kern="0" spc="-5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Requirements &amp; access control</a:t>
            </a:r>
            <a:endParaRPr lang="en-US" sz="2925" dirty="0"/>
          </a:p>
        </p:txBody>
      </p:sp>
      <p:sp>
        <p:nvSpPr>
          <p:cNvPr id="10" name="Text 8"/>
          <p:cNvSpPr/>
          <p:nvPr/>
        </p:nvSpPr>
        <p:spPr>
          <a:xfrm>
            <a:off x="460772" y="1324496"/>
            <a:ext cx="4350544" cy="2328974"/>
          </a:xfrm>
          <a:prstGeom prst="roundRect">
            <a:avLst>
              <a:gd name="adj" fmla="val 818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21506" y="1502197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406" dirty="0"/>
          </a:p>
        </p:txBody>
      </p:sp>
      <p:sp>
        <p:nvSpPr>
          <p:cNvPr id="12" name="Text 10"/>
          <p:cNvSpPr/>
          <p:nvPr/>
        </p:nvSpPr>
        <p:spPr>
          <a:xfrm>
            <a:off x="835819" y="1485230"/>
            <a:ext cx="3814763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Business Requirements Analysis</a:t>
            </a:r>
            <a:endParaRPr lang="en-US" sz="928" dirty="0"/>
          </a:p>
        </p:txBody>
      </p:sp>
      <p:sp>
        <p:nvSpPr>
          <p:cNvPr id="13" name="Text 11"/>
          <p:cNvSpPr/>
          <p:nvPr/>
        </p:nvSpPr>
        <p:spPr>
          <a:xfrm>
            <a:off x="621506" y="2177281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64381" y="2134419"/>
            <a:ext cx="38862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Connectivity, storage and printing for every department</a:t>
            </a:r>
            <a:endParaRPr lang="en-US" sz="816" dirty="0"/>
          </a:p>
        </p:txBody>
      </p:sp>
      <p:sp>
        <p:nvSpPr>
          <p:cNvPr id="15" name="Text 13"/>
          <p:cNvSpPr/>
          <p:nvPr/>
        </p:nvSpPr>
        <p:spPr>
          <a:xfrm>
            <a:off x="621506" y="2454101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764381" y="2411239"/>
            <a:ext cx="38862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classified Internal to Restricted, handled accordingly</a:t>
            </a:r>
            <a:endParaRPr lang="en-US" sz="816" dirty="0"/>
          </a:p>
        </p:txBody>
      </p:sp>
      <p:sp>
        <p:nvSpPr>
          <p:cNvPr id="17" name="Text 15"/>
          <p:cNvSpPr/>
          <p:nvPr/>
        </p:nvSpPr>
        <p:spPr>
          <a:xfrm>
            <a:off x="621506" y="2730922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64381" y="2688059"/>
            <a:ext cx="38862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Least privilege: access follows the job, not the person</a:t>
            </a:r>
            <a:endParaRPr lang="en-US" sz="816" dirty="0"/>
          </a:p>
        </p:txBody>
      </p:sp>
      <p:sp>
        <p:nvSpPr>
          <p:cNvPr id="19" name="Text 17"/>
          <p:cNvSpPr/>
          <p:nvPr/>
        </p:nvSpPr>
        <p:spPr>
          <a:xfrm>
            <a:off x="621506" y="3007742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64381" y="2964879"/>
            <a:ext cx="3886200" cy="1678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23"/>
              </a:lnSpc>
              <a:buNone/>
            </a:pPr>
            <a:r>
              <a:rPr lang="en-US" sz="81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POPIA obligations around personal information</a:t>
            </a:r>
            <a:endParaRPr lang="en-US" sz="816" dirty="0"/>
          </a:p>
        </p:txBody>
      </p:sp>
      <p:sp>
        <p:nvSpPr>
          <p:cNvPr id="21" name="Text 19"/>
          <p:cNvSpPr/>
          <p:nvPr/>
        </p:nvSpPr>
        <p:spPr>
          <a:xfrm>
            <a:off x="460772" y="3774914"/>
            <a:ext cx="2121694" cy="711138"/>
          </a:xfrm>
          <a:prstGeom prst="roundRect">
            <a:avLst>
              <a:gd name="adj" fmla="val 2678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92931" y="3892786"/>
            <a:ext cx="18573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592931" y="4242829"/>
            <a:ext cx="1967103" cy="12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groups, one per department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689622" y="3774914"/>
            <a:ext cx="2121694" cy="711138"/>
          </a:xfrm>
          <a:prstGeom prst="roundRect">
            <a:avLst>
              <a:gd name="adj" fmla="val 26788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821781" y="3892786"/>
            <a:ext cx="1857375" cy="308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225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19/19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2821781" y="4242829"/>
            <a:ext cx="1967103" cy="125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permission tests passed in our Ubuntu lab</a:t>
            </a:r>
            <a:endParaRPr lang="en-US" sz="731" dirty="0"/>
          </a:p>
        </p:txBody>
      </p:sp>
      <p:pic>
        <p:nvPicPr>
          <p:cNvPr id="27" name="Image 0" descr="/tmp/h2p-fit-1791279093046-ko6r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925" y="1320924"/>
            <a:ext cx="3571875" cy="2286000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28" name="Text 25"/>
          <p:cNvSpPr/>
          <p:nvPr/>
        </p:nvSpPr>
        <p:spPr>
          <a:xfrm>
            <a:off x="5114925" y="3721224"/>
            <a:ext cx="3571875" cy="768400"/>
          </a:xfrm>
          <a:prstGeom prst="roundRect">
            <a:avLst>
              <a:gd name="adj" fmla="val 24792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Shape 26"/>
          <p:cNvSpPr/>
          <p:nvPr/>
        </p:nvSpPr>
        <p:spPr>
          <a:xfrm>
            <a:off x="5114925" y="3724796"/>
            <a:ext cx="3571875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0" name="Shape 27"/>
          <p:cNvSpPr/>
          <p:nvPr/>
        </p:nvSpPr>
        <p:spPr>
          <a:xfrm>
            <a:off x="8683228" y="3721224"/>
            <a:ext cx="0" cy="76840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1" name="Shape 28"/>
          <p:cNvSpPr/>
          <p:nvPr/>
        </p:nvSpPr>
        <p:spPr>
          <a:xfrm>
            <a:off x="5114925" y="4486052"/>
            <a:ext cx="3571875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Shape 29"/>
          <p:cNvSpPr/>
          <p:nvPr/>
        </p:nvSpPr>
        <p:spPr>
          <a:xfrm>
            <a:off x="5125641" y="3721224"/>
            <a:ext cx="0" cy="768400"/>
          </a:xfrm>
          <a:prstGeom prst="line">
            <a:avLst/>
          </a:prstGeom>
          <a:noFill/>
          <a:ln w="21431">
            <a:solidFill>
              <a:srgbClr val="A78BF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30"/>
          <p:cNvSpPr/>
          <p:nvPr/>
        </p:nvSpPr>
        <p:spPr>
          <a:xfrm>
            <a:off x="5279231" y="386409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“</a:t>
            </a:r>
            <a:endParaRPr lang="en-US" sz="1547" dirty="0"/>
          </a:p>
        </p:txBody>
      </p:sp>
      <p:sp>
        <p:nvSpPr>
          <p:cNvPr id="34" name="Text 31"/>
          <p:cNvSpPr/>
          <p:nvPr/>
        </p:nvSpPr>
        <p:spPr>
          <a:xfrm>
            <a:off x="5522119" y="3856955"/>
            <a:ext cx="3014663" cy="4969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5"/>
              </a:lnSpc>
              <a:buNone/>
            </a:pPr>
            <a:r>
              <a:rPr lang="en-US" sz="81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department gets its own folder and group — Finance can’t see HR, Sales can’t see Development — tested and proven on a live Linux VM, not just drawn on paper.</a:t>
            </a:r>
            <a:endParaRPr lang="en-US" sz="816" dirty="0"/>
          </a:p>
        </p:txBody>
      </p:sp>
      <p:sp>
        <p:nvSpPr>
          <p:cNvPr id="35" name="Shape 32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3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4"/>
          <p:cNvSpPr/>
          <p:nvPr/>
        </p:nvSpPr>
        <p:spPr>
          <a:xfrm>
            <a:off x="438652" y="4772025"/>
            <a:ext cx="2585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714375" y="4795242"/>
            <a:ext cx="204225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31" dirty="0"/>
          </a:p>
        </p:txBody>
      </p:sp>
      <p:sp>
        <p:nvSpPr>
          <p:cNvPr id="39" name="Text 36"/>
          <p:cNvSpPr/>
          <p:nvPr/>
        </p:nvSpPr>
        <p:spPr>
          <a:xfrm>
            <a:off x="8349928" y="4789884"/>
            <a:ext cx="373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788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10</a:t>
            </a:r>
            <a:endParaRPr lang="en-US" sz="788" dirty="0"/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4031"/>
            <a:ext cx="1155948" cy="263133"/>
          </a:xfrm>
          <a:prstGeom prst="roundRect">
            <a:avLst>
              <a:gd name="adj" fmla="val 3616223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76833"/>
            <a:ext cx="115594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kern="0" spc="104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INFRASTRUCTURE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698873" y="358673"/>
            <a:ext cx="1133177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806029" y="470595"/>
            <a:ext cx="50006" cy="50006"/>
          </a:xfrm>
          <a:prstGeom prst="roundRect">
            <a:avLst>
              <a:gd name="adj" fmla="val 66667"/>
            </a:avLst>
          </a:prstGeom>
          <a:solidFill>
            <a:srgbClr val="A78BFA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913186" y="442913"/>
            <a:ext cx="6773614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Presented by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806029" y="470595"/>
            <a:ext cx="50006" cy="50006"/>
          </a:xfrm>
          <a:prstGeom prst="ellipse">
            <a:avLst/>
          </a:prstGeom>
          <a:solidFill>
            <a:srgbClr val="A78BFA"/>
          </a:solidFill>
          <a:ln/>
          <a:effectLst>
            <a:outerShdw blurRad="95250" dist="50800" dir="16200000" algn="bl" rotWithShape="0">
              <a:srgbClr val="A78BFA">
                <a:alpha val="8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2452885" y="428625"/>
            <a:ext cx="315754" cy="133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Mbali</a:t>
            </a:r>
            <a:endParaRPr lang="en-US" sz="703" dirty="0"/>
          </a:p>
        </p:txBody>
      </p:sp>
      <p:sp>
        <p:nvSpPr>
          <p:cNvPr id="9" name="Text 7"/>
          <p:cNvSpPr/>
          <p:nvPr/>
        </p:nvSpPr>
        <p:spPr>
          <a:xfrm>
            <a:off x="457200" y="734020"/>
            <a:ext cx="8636000" cy="4332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59"/>
              </a:lnSpc>
              <a:buNone/>
            </a:pPr>
            <a:r>
              <a:rPr lang="en-US" sz="2925" b="1" kern="0" spc="-5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&amp; network architecture</a:t>
            </a:r>
            <a:endParaRPr lang="en-US" sz="2925" dirty="0"/>
          </a:p>
        </p:txBody>
      </p:sp>
      <p:sp>
        <p:nvSpPr>
          <p:cNvPr id="10" name="Text 8"/>
          <p:cNvSpPr/>
          <p:nvPr/>
        </p:nvSpPr>
        <p:spPr>
          <a:xfrm>
            <a:off x="460772" y="1324496"/>
            <a:ext cx="3921919" cy="521494"/>
          </a:xfrm>
          <a:prstGeom prst="roundRect">
            <a:avLst>
              <a:gd name="adj" fmla="val 3653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2931" y="1435224"/>
            <a:ext cx="1632204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 + 5</a:t>
            </a:r>
            <a:endParaRPr lang="en-US" sz="2363" dirty="0"/>
          </a:p>
        </p:txBody>
      </p:sp>
      <p:sp>
        <p:nvSpPr>
          <p:cNvPr id="12" name="Text 10"/>
          <p:cNvSpPr/>
          <p:nvPr/>
        </p:nvSpPr>
        <p:spPr>
          <a:xfrm>
            <a:off x="1793081" y="1517712"/>
            <a:ext cx="2457450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Desktops / laptops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60772" y="1938858"/>
            <a:ext cx="3921919" cy="521494"/>
          </a:xfrm>
          <a:prstGeom prst="roundRect">
            <a:avLst>
              <a:gd name="adj" fmla="val 3653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592931" y="2049587"/>
            <a:ext cx="192024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+ 1</a:t>
            </a:r>
            <a:endParaRPr lang="en-US" sz="2363" dirty="0"/>
          </a:p>
        </p:txBody>
      </p:sp>
      <p:sp>
        <p:nvSpPr>
          <p:cNvPr id="15" name="Text 13"/>
          <p:cNvSpPr/>
          <p:nvPr/>
        </p:nvSpPr>
        <p:spPr>
          <a:xfrm>
            <a:off x="1793081" y="2132075"/>
            <a:ext cx="2464594" cy="153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Meraki firewall + 48-port switch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60772" y="2553221"/>
            <a:ext cx="3921919" cy="521494"/>
          </a:xfrm>
          <a:prstGeom prst="roundRect">
            <a:avLst>
              <a:gd name="adj" fmla="val 3653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92931" y="2663949"/>
            <a:ext cx="1896237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63"/>
              </a:lnSpc>
              <a:buNone/>
            </a:pPr>
            <a:r>
              <a:rPr lang="en-US" sz="2363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TB</a:t>
            </a:r>
            <a:endParaRPr lang="en-US" sz="2363" dirty="0"/>
          </a:p>
        </p:txBody>
      </p:sp>
      <p:sp>
        <p:nvSpPr>
          <p:cNvPr id="18" name="Text 16"/>
          <p:cNvSpPr/>
          <p:nvPr/>
        </p:nvSpPr>
        <p:spPr>
          <a:xfrm>
            <a:off x="1793081" y="2746437"/>
            <a:ext cx="2457450" cy="153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63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Synology NAS (RAID 1)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0772" y="3181871"/>
            <a:ext cx="3921919" cy="1391245"/>
          </a:xfrm>
          <a:prstGeom prst="roundRect">
            <a:avLst>
              <a:gd name="adj" fmla="val 13693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21506" y="3345284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406" dirty="0"/>
          </a:p>
        </p:txBody>
      </p:sp>
      <p:sp>
        <p:nvSpPr>
          <p:cNvPr id="21" name="Text 19"/>
          <p:cNvSpPr/>
          <p:nvPr/>
        </p:nvSpPr>
        <p:spPr>
          <a:xfrm>
            <a:off x="835819" y="3328318"/>
            <a:ext cx="3386138" cy="19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Why it’s built this way</a:t>
            </a:r>
            <a:endParaRPr lang="en-US" sz="928" dirty="0"/>
          </a:p>
        </p:txBody>
      </p:sp>
      <p:sp>
        <p:nvSpPr>
          <p:cNvPr id="22" name="Text 20"/>
          <p:cNvSpPr/>
          <p:nvPr/>
        </p:nvSpPr>
        <p:spPr>
          <a:xfrm>
            <a:off x="621506" y="3633713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7238" y="3590851"/>
            <a:ext cx="34647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6 VLANs: servers, users, printers, staff Wi-Fi, guest Wi-Fi, management</a:t>
            </a:r>
            <a:endParaRPr lang="en-US" sz="759" dirty="0"/>
          </a:p>
        </p:txBody>
      </p:sp>
      <p:sp>
        <p:nvSpPr>
          <p:cNvPr id="24" name="Text 22"/>
          <p:cNvSpPr/>
          <p:nvPr/>
        </p:nvSpPr>
        <p:spPr>
          <a:xfrm>
            <a:off x="621506" y="3864099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57238" y="3821237"/>
            <a:ext cx="34647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Guest Wi-Fi fully isolated from internal networks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21506" y="4094485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57238" y="4051622"/>
            <a:ext cx="346471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LTE/5G failover keeps the office online if fibre drops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21506" y="4324871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57238" y="4282008"/>
            <a:ext cx="3464719" cy="144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Built on our Week 1 topology, not redrawn from scratch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29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0"/>
          <p:cNvSpPr/>
          <p:nvPr/>
        </p:nvSpPr>
        <p:spPr>
          <a:xfrm>
            <a:off x="438652" y="4772025"/>
            <a:ext cx="2585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23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14375" y="4795242"/>
            <a:ext cx="204225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31" dirty="0"/>
          </a:p>
        </p:txBody>
      </p:sp>
      <p:sp>
        <p:nvSpPr>
          <p:cNvPr id="35" name="Text 32"/>
          <p:cNvSpPr/>
          <p:nvPr/>
        </p:nvSpPr>
        <p:spPr>
          <a:xfrm>
            <a:off x="8349928" y="4789884"/>
            <a:ext cx="373707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81"/>
              </a:lnSpc>
              <a:buNone/>
            </a:pPr>
            <a:r>
              <a:rPr lang="en-US" sz="788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r>
              <a:rPr lang="en-US" sz="788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 / 10</a:t>
            </a:r>
            <a:endParaRPr lang="en-US" sz="788" dirty="0"/>
          </a:p>
        </p:txBody>
      </p:sp>
      <p:pic>
        <p:nvPicPr>
          <p:cNvPr id="36" name="Picture 35" descr="Office Network Topology Diagram(1)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4863" y="1320924"/>
            <a:ext cx="4071938" cy="3100388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65536" y="100013"/>
            <a:ext cx="2478464" cy="11418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25"/>
              </a:lnSpc>
              <a:buNone/>
            </a:pPr>
            <a:r>
              <a:rPr lang="en-US" sz="8325" b="1" kern="0" spc="-416" dirty="0">
                <a:solidFill>
                  <a:srgbClr val="F5EFEA">
                    <a:alpha val="4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/24</a:t>
            </a:r>
            <a:endParaRPr lang="en-US" sz="8325" dirty="0"/>
          </a:p>
        </p:txBody>
      </p:sp>
      <p:sp>
        <p:nvSpPr>
          <p:cNvPr id="3" name="Text 1"/>
          <p:cNvSpPr/>
          <p:nvPr/>
        </p:nvSpPr>
        <p:spPr>
          <a:xfrm>
            <a:off x="457200" y="321169"/>
            <a:ext cx="1041425" cy="263133"/>
          </a:xfrm>
          <a:prstGeom prst="roundRect">
            <a:avLst>
              <a:gd name="adj" fmla="val 3616223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333970"/>
            <a:ext cx="1041425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kern="0" spc="116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SEGMENTATION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1584350" y="315811"/>
            <a:ext cx="599740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1848669" y="400050"/>
            <a:ext cx="6838131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Mbali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1691506" y="39915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055" dirty="0"/>
          </a:p>
        </p:txBody>
      </p:sp>
      <p:sp>
        <p:nvSpPr>
          <p:cNvPr id="8" name="Text 6"/>
          <p:cNvSpPr/>
          <p:nvPr/>
        </p:nvSpPr>
        <p:spPr>
          <a:xfrm>
            <a:off x="457200" y="676870"/>
            <a:ext cx="8636000" cy="42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1"/>
              </a:lnSpc>
              <a:buNone/>
            </a:pPr>
            <a:r>
              <a:rPr lang="en-US" sz="2925" b="1" kern="0" spc="-64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IP addressing &amp; firewall rules</a:t>
            </a:r>
            <a:endParaRPr lang="en-US" sz="2925" dirty="0"/>
          </a:p>
        </p:txBody>
      </p:sp>
      <p:sp>
        <p:nvSpPr>
          <p:cNvPr id="9" name="Shape 7"/>
          <p:cNvSpPr/>
          <p:nvPr/>
        </p:nvSpPr>
        <p:spPr>
          <a:xfrm>
            <a:off x="457200" y="1457325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0" name="Text 8"/>
          <p:cNvSpPr/>
          <p:nvPr/>
        </p:nvSpPr>
        <p:spPr>
          <a:xfrm>
            <a:off x="585788" y="1271588"/>
            <a:ext cx="20574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VLAN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871663" y="1271588"/>
            <a:ext cx="668655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PURPOSE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688479" y="1271588"/>
            <a:ext cx="2869734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928"/>
              </a:lnSpc>
              <a:buNone/>
            </a:pPr>
            <a:r>
              <a:rPr lang="en-US" sz="800" kern="0" spc="124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SUBNET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14" name="Text 12"/>
          <p:cNvSpPr/>
          <p:nvPr/>
        </p:nvSpPr>
        <p:spPr>
          <a:xfrm>
            <a:off x="563245" y="1501673"/>
            <a:ext cx="608661" cy="282778"/>
          </a:xfrm>
          <a:prstGeom prst="roundRect">
            <a:avLst>
              <a:gd name="adj" fmla="val 3364998"/>
            </a:avLst>
          </a:prstGeom>
          <a:solidFill>
            <a:srgbClr val="E95420">
              <a:alpha val="10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73039" y="1586805"/>
            <a:ext cx="332882" cy="14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C0B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980019" y="1549025"/>
            <a:ext cx="20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871663" y="1546622"/>
            <a:ext cx="599846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Servers</a:t>
            </a:r>
            <a:endParaRPr lang="en-US" sz="1013" dirty="0"/>
          </a:p>
        </p:txBody>
      </p:sp>
      <p:sp>
        <p:nvSpPr>
          <p:cNvPr id="18" name="Text 16"/>
          <p:cNvSpPr/>
          <p:nvPr/>
        </p:nvSpPr>
        <p:spPr>
          <a:xfrm>
            <a:off x="6457950" y="1551980"/>
            <a:ext cx="21002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192.168.10.0/24</a:t>
            </a:r>
            <a:endParaRPr lang="en-US" sz="956" dirty="0"/>
          </a:p>
        </p:txBody>
      </p:sp>
      <p:sp>
        <p:nvSpPr>
          <p:cNvPr id="19" name="Shape 17"/>
          <p:cNvSpPr/>
          <p:nvPr/>
        </p:nvSpPr>
        <p:spPr>
          <a:xfrm>
            <a:off x="457200" y="2200275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0" name="Text 18"/>
          <p:cNvSpPr/>
          <p:nvPr/>
        </p:nvSpPr>
        <p:spPr>
          <a:xfrm>
            <a:off x="563245" y="1873148"/>
            <a:ext cx="608661" cy="282778"/>
          </a:xfrm>
          <a:prstGeom prst="roundRect">
            <a:avLst>
              <a:gd name="adj" fmla="val 3364998"/>
            </a:avLst>
          </a:prstGeom>
          <a:solidFill>
            <a:srgbClr val="E95420">
              <a:alpha val="10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73039" y="1958280"/>
            <a:ext cx="332882" cy="14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C0B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996645" y="1912187"/>
            <a:ext cx="20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871663" y="1918097"/>
            <a:ext cx="5492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User devices</a:t>
            </a:r>
            <a:endParaRPr lang="en-US" sz="1013" dirty="0"/>
          </a:p>
        </p:txBody>
      </p:sp>
      <p:sp>
        <p:nvSpPr>
          <p:cNvPr id="24" name="Text 22"/>
          <p:cNvSpPr/>
          <p:nvPr/>
        </p:nvSpPr>
        <p:spPr>
          <a:xfrm>
            <a:off x="6457950" y="1923455"/>
            <a:ext cx="21002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192.168.20.0/24</a:t>
            </a:r>
            <a:endParaRPr lang="en-US" sz="956" dirty="0"/>
          </a:p>
        </p:txBody>
      </p:sp>
      <p:sp>
        <p:nvSpPr>
          <p:cNvPr id="25" name="Shape 23"/>
          <p:cNvSpPr/>
          <p:nvPr/>
        </p:nvSpPr>
        <p:spPr>
          <a:xfrm>
            <a:off x="457200" y="2571750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6" name="Text 24"/>
          <p:cNvSpPr/>
          <p:nvPr/>
        </p:nvSpPr>
        <p:spPr>
          <a:xfrm>
            <a:off x="563245" y="2244623"/>
            <a:ext cx="608661" cy="282778"/>
          </a:xfrm>
          <a:prstGeom prst="roundRect">
            <a:avLst>
              <a:gd name="adj" fmla="val 3364998"/>
            </a:avLst>
          </a:prstGeom>
          <a:solidFill>
            <a:srgbClr val="E95420">
              <a:alpha val="10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73039" y="2329755"/>
            <a:ext cx="332882" cy="14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C0B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988332" y="2283662"/>
            <a:ext cx="20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871663" y="2289572"/>
            <a:ext cx="599846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Printers</a:t>
            </a:r>
            <a:endParaRPr lang="en-US" sz="1013" dirty="0"/>
          </a:p>
        </p:txBody>
      </p:sp>
      <p:sp>
        <p:nvSpPr>
          <p:cNvPr id="30" name="Text 28"/>
          <p:cNvSpPr/>
          <p:nvPr/>
        </p:nvSpPr>
        <p:spPr>
          <a:xfrm>
            <a:off x="6457950" y="2294930"/>
            <a:ext cx="21002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192.168.30.0/24</a:t>
            </a:r>
            <a:endParaRPr lang="en-US" sz="956" dirty="0"/>
          </a:p>
        </p:txBody>
      </p:sp>
      <p:sp>
        <p:nvSpPr>
          <p:cNvPr id="31" name="Shape 29"/>
          <p:cNvSpPr/>
          <p:nvPr/>
        </p:nvSpPr>
        <p:spPr>
          <a:xfrm>
            <a:off x="457200" y="2943225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2" name="Text 30"/>
          <p:cNvSpPr/>
          <p:nvPr/>
        </p:nvSpPr>
        <p:spPr>
          <a:xfrm>
            <a:off x="563245" y="2616098"/>
            <a:ext cx="608661" cy="282778"/>
          </a:xfrm>
          <a:prstGeom prst="roundRect">
            <a:avLst>
              <a:gd name="adj" fmla="val 3364998"/>
            </a:avLst>
          </a:prstGeom>
          <a:solidFill>
            <a:srgbClr val="E95420">
              <a:alpha val="10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673039" y="2701230"/>
            <a:ext cx="332882" cy="14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C0B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988332" y="2655137"/>
            <a:ext cx="20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871663" y="2661047"/>
            <a:ext cx="5492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Staff Wi-Fi</a:t>
            </a:r>
            <a:endParaRPr lang="en-US" sz="1013" dirty="0"/>
          </a:p>
        </p:txBody>
      </p:sp>
      <p:sp>
        <p:nvSpPr>
          <p:cNvPr id="36" name="Text 34"/>
          <p:cNvSpPr/>
          <p:nvPr/>
        </p:nvSpPr>
        <p:spPr>
          <a:xfrm>
            <a:off x="6457950" y="2666405"/>
            <a:ext cx="21002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192.168.40.0/24</a:t>
            </a:r>
            <a:endParaRPr lang="en-US" sz="956" dirty="0"/>
          </a:p>
        </p:txBody>
      </p:sp>
      <p:sp>
        <p:nvSpPr>
          <p:cNvPr id="37" name="Shape 35"/>
          <p:cNvSpPr/>
          <p:nvPr/>
        </p:nvSpPr>
        <p:spPr>
          <a:xfrm>
            <a:off x="457200" y="3314700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6"/>
          <p:cNvSpPr/>
          <p:nvPr/>
        </p:nvSpPr>
        <p:spPr>
          <a:xfrm>
            <a:off x="563245" y="2987573"/>
            <a:ext cx="608661" cy="282778"/>
          </a:xfrm>
          <a:prstGeom prst="roundRect">
            <a:avLst>
              <a:gd name="adj" fmla="val 3364998"/>
            </a:avLst>
          </a:prstGeom>
          <a:solidFill>
            <a:srgbClr val="E95420">
              <a:alpha val="10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673039" y="3072705"/>
            <a:ext cx="332882" cy="14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C0B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980017" y="3034925"/>
            <a:ext cx="20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871663" y="3032522"/>
            <a:ext cx="5492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Guest Wi-Fi</a:t>
            </a:r>
            <a:endParaRPr lang="en-US" sz="1013" dirty="0"/>
          </a:p>
        </p:txBody>
      </p:sp>
      <p:sp>
        <p:nvSpPr>
          <p:cNvPr id="42" name="Text 40"/>
          <p:cNvSpPr/>
          <p:nvPr/>
        </p:nvSpPr>
        <p:spPr>
          <a:xfrm>
            <a:off x="6457950" y="3037880"/>
            <a:ext cx="21002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192.168.50.0/24</a:t>
            </a:r>
            <a:endParaRPr lang="en-US" sz="956" dirty="0"/>
          </a:p>
        </p:txBody>
      </p:sp>
      <p:sp>
        <p:nvSpPr>
          <p:cNvPr id="43" name="Shape 41"/>
          <p:cNvSpPr/>
          <p:nvPr/>
        </p:nvSpPr>
        <p:spPr>
          <a:xfrm>
            <a:off x="457200" y="3686175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4" name="Text 42"/>
          <p:cNvSpPr/>
          <p:nvPr/>
        </p:nvSpPr>
        <p:spPr>
          <a:xfrm>
            <a:off x="563245" y="3359048"/>
            <a:ext cx="608661" cy="282778"/>
          </a:xfrm>
          <a:prstGeom prst="roundRect">
            <a:avLst>
              <a:gd name="adj" fmla="val 3364998"/>
            </a:avLst>
          </a:prstGeom>
          <a:solidFill>
            <a:srgbClr val="E95420">
              <a:alpha val="10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673039" y="3444180"/>
            <a:ext cx="332882" cy="1419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86"/>
              </a:lnSpc>
              <a:buNone/>
            </a:pPr>
            <a:r>
              <a:rPr lang="en-US" sz="800" kern="0" spc="83" dirty="0">
                <a:solidFill>
                  <a:srgbClr val="C0B0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VLAN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71704" y="3398088"/>
            <a:ext cx="20724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99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871663" y="3403997"/>
            <a:ext cx="5492344" cy="2083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19"/>
              </a:lnSpc>
              <a:buNone/>
            </a:pPr>
            <a:r>
              <a:rPr lang="en-US" sz="1013" kern="0" spc="-5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Management</a:t>
            </a:r>
            <a:endParaRPr lang="en-US" sz="1013" dirty="0"/>
          </a:p>
        </p:txBody>
      </p:sp>
      <p:sp>
        <p:nvSpPr>
          <p:cNvPr id="48" name="Text 46"/>
          <p:cNvSpPr/>
          <p:nvPr/>
        </p:nvSpPr>
        <p:spPr>
          <a:xfrm>
            <a:off x="6457950" y="3409355"/>
            <a:ext cx="2100263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>
                    <a:alpha val="72000"/>
                  </a:srgbClr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192.168.99.0/24</a:t>
            </a:r>
            <a:endParaRPr lang="en-US" sz="956" dirty="0"/>
          </a:p>
        </p:txBody>
      </p:sp>
      <p:sp>
        <p:nvSpPr>
          <p:cNvPr id="49" name="Text 47"/>
          <p:cNvSpPr/>
          <p:nvPr/>
        </p:nvSpPr>
        <p:spPr>
          <a:xfrm>
            <a:off x="460772" y="3839766"/>
            <a:ext cx="2640732" cy="707231"/>
          </a:xfrm>
          <a:prstGeom prst="roundRect">
            <a:avLst>
              <a:gd name="adj" fmla="val 269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621506" y="3940225"/>
            <a:ext cx="2319263" cy="19938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561"/>
              </a:lnSpc>
              <a:buNone/>
            </a:pPr>
            <a:r>
              <a:rPr lang="en-US" sz="1041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Default–deny</a:t>
            </a:r>
            <a:endParaRPr lang="en-US" sz="1041" dirty="0"/>
          </a:p>
        </p:txBody>
      </p:sp>
      <p:sp>
        <p:nvSpPr>
          <p:cNvPr id="51" name="Text 49"/>
          <p:cNvSpPr/>
          <p:nvPr/>
        </p:nvSpPr>
        <p:spPr>
          <a:xfrm>
            <a:off x="621506" y="4167039"/>
            <a:ext cx="2319263" cy="2763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01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inbound connection is blocked unless explicitly allowed</a:t>
            </a:r>
            <a:endParaRPr lang="en-US" sz="800" dirty="0"/>
          </a:p>
        </p:txBody>
      </p:sp>
      <p:sp>
        <p:nvSpPr>
          <p:cNvPr id="52" name="Text 50"/>
          <p:cNvSpPr/>
          <p:nvPr/>
        </p:nvSpPr>
        <p:spPr>
          <a:xfrm>
            <a:off x="3251522" y="3839766"/>
            <a:ext cx="2640843" cy="707231"/>
          </a:xfrm>
          <a:prstGeom prst="roundRect">
            <a:avLst>
              <a:gd name="adj" fmla="val 269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3" name="Text 51"/>
          <p:cNvSpPr/>
          <p:nvPr/>
        </p:nvSpPr>
        <p:spPr>
          <a:xfrm>
            <a:off x="3412257" y="3977283"/>
            <a:ext cx="2319375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</a:t>
            </a:r>
            <a:endParaRPr lang="en-US" sz="1913" dirty="0"/>
          </a:p>
        </p:txBody>
      </p:sp>
      <p:sp>
        <p:nvSpPr>
          <p:cNvPr id="54" name="Text 52"/>
          <p:cNvSpPr/>
          <p:nvPr/>
        </p:nvSpPr>
        <p:spPr>
          <a:xfrm>
            <a:off x="3412257" y="4270177"/>
            <a:ext cx="24291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documented firewall rules between networks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6042385" y="3839766"/>
            <a:ext cx="2640732" cy="707231"/>
          </a:xfrm>
          <a:prstGeom prst="roundRect">
            <a:avLst>
              <a:gd name="adj" fmla="val 269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6203119" y="3977283"/>
            <a:ext cx="2319263" cy="262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13"/>
              </a:lnSpc>
              <a:buNone/>
            </a:pPr>
            <a:r>
              <a:rPr lang="en-US" sz="1913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</a:t>
            </a:r>
            <a:endParaRPr lang="en-US" sz="1913" dirty="0"/>
          </a:p>
        </p:txBody>
      </p:sp>
      <p:sp>
        <p:nvSpPr>
          <p:cNvPr id="57" name="Text 55"/>
          <p:cNvSpPr/>
          <p:nvPr/>
        </p:nvSpPr>
        <p:spPr>
          <a:xfrm>
            <a:off x="6203119" y="4270177"/>
            <a:ext cx="231926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addressed devices, zero conflicts in our register</a:t>
            </a:r>
            <a:endParaRPr lang="en-US" sz="731" dirty="0"/>
          </a:p>
        </p:txBody>
      </p:sp>
      <p:sp>
        <p:nvSpPr>
          <p:cNvPr id="58" name="Shape 56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9" name="Text 57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0" name="Text 58"/>
          <p:cNvSpPr/>
          <p:nvPr/>
        </p:nvSpPr>
        <p:spPr>
          <a:xfrm>
            <a:off x="440438" y="4772025"/>
            <a:ext cx="2585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34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721519" y="4795242"/>
            <a:ext cx="204225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31" dirty="0"/>
          </a:p>
        </p:txBody>
      </p:sp>
      <p:sp>
        <p:nvSpPr>
          <p:cNvPr id="62" name="Text 60"/>
          <p:cNvSpPr/>
          <p:nvPr/>
        </p:nvSpPr>
        <p:spPr>
          <a:xfrm>
            <a:off x="8361959" y="4792563"/>
            <a:ext cx="360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 / 10</a:t>
            </a:r>
            <a:endParaRPr lang="en-US" sz="759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1169"/>
            <a:ext cx="798202" cy="263133"/>
          </a:xfrm>
          <a:prstGeom prst="roundRect">
            <a:avLst>
              <a:gd name="adj" fmla="val 3616223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3970"/>
            <a:ext cx="798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kern="0" spc="116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SOFTWARE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341127" y="315811"/>
            <a:ext cx="778222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605446" y="400050"/>
            <a:ext cx="7081354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Luthando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448284" y="39915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57200" y="676870"/>
            <a:ext cx="8636000" cy="42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1"/>
              </a:lnSpc>
              <a:buNone/>
            </a:pPr>
            <a:r>
              <a:rPr lang="en-US" sz="2925" b="1" kern="0" spc="-64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standard builds, centrally managed</a:t>
            </a:r>
            <a:endParaRPr lang="en-US" sz="2925" dirty="0"/>
          </a:p>
        </p:txBody>
      </p:sp>
      <p:sp>
        <p:nvSpPr>
          <p:cNvPr id="8" name="Text 6"/>
          <p:cNvSpPr/>
          <p:nvPr/>
        </p:nvSpPr>
        <p:spPr>
          <a:xfrm>
            <a:off x="460772" y="1160859"/>
            <a:ext cx="2893219" cy="2450306"/>
          </a:xfrm>
          <a:prstGeom prst="roundRect">
            <a:avLst>
              <a:gd name="adj" fmla="val 777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53653" y="1353741"/>
            <a:ext cx="321469" cy="321469"/>
          </a:xfrm>
          <a:prstGeom prst="roundRect">
            <a:avLst>
              <a:gd name="adj" fmla="val 41481"/>
            </a:avLst>
          </a:prstGeom>
          <a:solidFill>
            <a:srgbClr val="A78BFA">
              <a:alpha val="14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690086" y="139017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▢</a:t>
            </a:r>
            <a:endParaRPr lang="en-US" sz="1688" dirty="0"/>
          </a:p>
        </p:txBody>
      </p:sp>
      <p:sp>
        <p:nvSpPr>
          <p:cNvPr id="11" name="Text 9"/>
          <p:cNvSpPr/>
          <p:nvPr/>
        </p:nvSpPr>
        <p:spPr>
          <a:xfrm>
            <a:off x="1071563" y="1401961"/>
            <a:ext cx="2093119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kern="0" spc="-1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Windows office build</a:t>
            </a:r>
            <a:endParaRPr lang="en-US" sz="1181" dirty="0"/>
          </a:p>
        </p:txBody>
      </p:sp>
      <p:sp>
        <p:nvSpPr>
          <p:cNvPr id="12" name="Text 10"/>
          <p:cNvSpPr/>
          <p:nvPr/>
        </p:nvSpPr>
        <p:spPr>
          <a:xfrm>
            <a:off x="627221" y="1751705"/>
            <a:ext cx="677942" cy="245274"/>
          </a:xfrm>
          <a:prstGeom prst="roundRect">
            <a:avLst>
              <a:gd name="adj" fmla="val 3879529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39101" y="1764506"/>
            <a:ext cx="654182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17 devices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50081" y="2098477"/>
            <a:ext cx="2514600" cy="7144"/>
          </a:xfrm>
          <a:prstGeom prst="rect">
            <a:avLst/>
          </a:prstGeom>
          <a:solidFill>
            <a:srgbClr val="F5EFEA">
              <a:alpha val="1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50081" y="2338239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807244" y="2273945"/>
            <a:ext cx="2357438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Windows 11 Pro + Microsoft 365 Business Premium</a:t>
            </a:r>
            <a:endParaRPr lang="en-US" sz="956" dirty="0"/>
          </a:p>
        </p:txBody>
      </p:sp>
      <p:sp>
        <p:nvSpPr>
          <p:cNvPr id="17" name="Text 15"/>
          <p:cNvSpPr/>
          <p:nvPr/>
        </p:nvSpPr>
        <p:spPr>
          <a:xfrm>
            <a:off x="650081" y="2842320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807244" y="2778026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Managed centrally with Microsoft Intune</a:t>
            </a:r>
            <a:endParaRPr lang="en-US" sz="956" dirty="0"/>
          </a:p>
        </p:txBody>
      </p:sp>
      <p:sp>
        <p:nvSpPr>
          <p:cNvPr id="19" name="Text 17"/>
          <p:cNvSpPr/>
          <p:nvPr/>
        </p:nvSpPr>
        <p:spPr>
          <a:xfrm>
            <a:off x="650081" y="3164235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807244" y="3099941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Defender for Business on every device</a:t>
            </a:r>
            <a:endParaRPr lang="en-US" sz="956" dirty="0"/>
          </a:p>
        </p:txBody>
      </p:sp>
      <p:sp>
        <p:nvSpPr>
          <p:cNvPr id="21" name="Text 19"/>
          <p:cNvSpPr/>
          <p:nvPr/>
        </p:nvSpPr>
        <p:spPr>
          <a:xfrm>
            <a:off x="3504009" y="1160859"/>
            <a:ext cx="2893219" cy="2450306"/>
          </a:xfrm>
          <a:prstGeom prst="roundRect">
            <a:avLst>
              <a:gd name="adj" fmla="val 777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3696891" y="1353741"/>
            <a:ext cx="321469" cy="321469"/>
          </a:xfrm>
          <a:prstGeom prst="roundRect">
            <a:avLst>
              <a:gd name="adj" fmla="val 41481"/>
            </a:avLst>
          </a:prstGeom>
          <a:solidFill>
            <a:srgbClr val="E95420">
              <a:alpha val="13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3733324" y="1390174"/>
            <a:ext cx="248602" cy="2486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688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1688" dirty="0"/>
          </a:p>
        </p:txBody>
      </p:sp>
      <p:sp>
        <p:nvSpPr>
          <p:cNvPr id="24" name="Text 22"/>
          <p:cNvSpPr/>
          <p:nvPr/>
        </p:nvSpPr>
        <p:spPr>
          <a:xfrm>
            <a:off x="4114800" y="1401961"/>
            <a:ext cx="2093119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kern="0" spc="-1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 developer build</a:t>
            </a:r>
            <a:endParaRPr lang="en-US" sz="1181" dirty="0"/>
          </a:p>
        </p:txBody>
      </p:sp>
      <p:sp>
        <p:nvSpPr>
          <p:cNvPr id="25" name="Text 23"/>
          <p:cNvSpPr/>
          <p:nvPr/>
        </p:nvSpPr>
        <p:spPr>
          <a:xfrm>
            <a:off x="3670459" y="1751705"/>
            <a:ext cx="633293" cy="245274"/>
          </a:xfrm>
          <a:prstGeom prst="roundRect">
            <a:avLst>
              <a:gd name="adj" fmla="val 3879529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3693319" y="1764506"/>
            <a:ext cx="587573" cy="2196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55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devices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3693319" y="2098477"/>
            <a:ext cx="2514600" cy="7144"/>
          </a:xfrm>
          <a:prstGeom prst="rect">
            <a:avLst/>
          </a:prstGeom>
          <a:solidFill>
            <a:srgbClr val="F5EFEA">
              <a:alpha val="11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693319" y="2338239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3850481" y="2273945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 26.04 LTS, full-disk encrypted</a:t>
            </a:r>
            <a:endParaRPr lang="en-US" sz="956" dirty="0"/>
          </a:p>
        </p:txBody>
      </p:sp>
      <p:sp>
        <p:nvSpPr>
          <p:cNvPr id="30" name="Text 28"/>
          <p:cNvSpPr/>
          <p:nvPr/>
        </p:nvSpPr>
        <p:spPr>
          <a:xfrm>
            <a:off x="3693319" y="2660154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3850481" y="2595860"/>
            <a:ext cx="2357438" cy="1967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documented build script</a:t>
            </a:r>
            <a:endParaRPr lang="en-US" sz="956" dirty="0"/>
          </a:p>
        </p:txBody>
      </p:sp>
      <p:sp>
        <p:nvSpPr>
          <p:cNvPr id="32" name="Text 30"/>
          <p:cNvSpPr/>
          <p:nvPr/>
        </p:nvSpPr>
        <p:spPr>
          <a:xfrm>
            <a:off x="3693319" y="2982069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3850481" y="2917775"/>
            <a:ext cx="2357438" cy="3934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34"/>
              </a:lnSpc>
              <a:buNone/>
            </a:pPr>
            <a:r>
              <a:rPr lang="en-US" sz="956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ClamAV, UFW firewall, auto security updates</a:t>
            </a:r>
            <a:endParaRPr lang="en-US" sz="956" dirty="0"/>
          </a:p>
        </p:txBody>
      </p:sp>
      <p:pic>
        <p:nvPicPr>
          <p:cNvPr id="34" name="Image 0" descr="/tmp/h2p-fit-1791279094251-y7avf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2250" y="1157288"/>
            <a:ext cx="2114550" cy="2457450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35" name="Text 32"/>
          <p:cNvSpPr/>
          <p:nvPr/>
        </p:nvSpPr>
        <p:spPr>
          <a:xfrm>
            <a:off x="460772" y="3761184"/>
            <a:ext cx="2640732" cy="707231"/>
          </a:xfrm>
          <a:prstGeom prst="roundRect">
            <a:avLst>
              <a:gd name="adj" fmla="val 269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3"/>
          <p:cNvSpPr/>
          <p:nvPr/>
        </p:nvSpPr>
        <p:spPr>
          <a:xfrm>
            <a:off x="621506" y="3905845"/>
            <a:ext cx="23192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29</a:t>
            </a:r>
            <a:endParaRPr lang="en-US" sz="1800" dirty="0"/>
          </a:p>
        </p:txBody>
      </p:sp>
      <p:sp>
        <p:nvSpPr>
          <p:cNvPr id="37" name="Text 34"/>
          <p:cNvSpPr/>
          <p:nvPr/>
        </p:nvSpPr>
        <p:spPr>
          <a:xfrm>
            <a:off x="621506" y="4184452"/>
            <a:ext cx="2428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products tracked in the Software Inventory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3251522" y="3761184"/>
            <a:ext cx="2640843" cy="707231"/>
          </a:xfrm>
          <a:prstGeom prst="roundRect">
            <a:avLst>
              <a:gd name="adj" fmla="val 269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3412257" y="3912989"/>
            <a:ext cx="2319375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688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48h / 7d / 30d</a:t>
            </a:r>
            <a:endParaRPr lang="en-US" sz="1688" dirty="0"/>
          </a:p>
        </p:txBody>
      </p:sp>
      <p:sp>
        <p:nvSpPr>
          <p:cNvPr id="40" name="Text 37"/>
          <p:cNvSpPr/>
          <p:nvPr/>
        </p:nvSpPr>
        <p:spPr>
          <a:xfrm>
            <a:off x="3412257" y="4177308"/>
            <a:ext cx="242910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patch targets: critical / high / medium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6042385" y="3761184"/>
            <a:ext cx="2640732" cy="707231"/>
          </a:xfrm>
          <a:prstGeom prst="roundRect">
            <a:avLst>
              <a:gd name="adj" fmla="val 2693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Text 39"/>
          <p:cNvSpPr/>
          <p:nvPr/>
        </p:nvSpPr>
        <p:spPr>
          <a:xfrm>
            <a:off x="6203119" y="3905845"/>
            <a:ext cx="2319263" cy="246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80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800" dirty="0"/>
          </a:p>
        </p:txBody>
      </p:sp>
      <p:sp>
        <p:nvSpPr>
          <p:cNvPr id="43" name="Text 40"/>
          <p:cNvSpPr/>
          <p:nvPr/>
        </p:nvSpPr>
        <p:spPr>
          <a:xfrm>
            <a:off x="6203119" y="4184452"/>
            <a:ext cx="242899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licences bought without a documented need</a:t>
            </a:r>
            <a:endParaRPr lang="en-US" sz="800" dirty="0"/>
          </a:p>
        </p:txBody>
      </p:sp>
      <p:sp>
        <p:nvSpPr>
          <p:cNvPr id="44" name="Shape 41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2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3"/>
          <p:cNvSpPr/>
          <p:nvPr/>
        </p:nvSpPr>
        <p:spPr>
          <a:xfrm>
            <a:off x="440438" y="4772025"/>
            <a:ext cx="2585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34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21519" y="4795242"/>
            <a:ext cx="204225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31" dirty="0"/>
          </a:p>
        </p:txBody>
      </p:sp>
      <p:sp>
        <p:nvSpPr>
          <p:cNvPr id="48" name="Text 45"/>
          <p:cNvSpPr/>
          <p:nvPr/>
        </p:nvSpPr>
        <p:spPr>
          <a:xfrm>
            <a:off x="8361959" y="4792563"/>
            <a:ext cx="360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10</a:t>
            </a:r>
            <a:endParaRPr lang="en-US" sz="759" dirty="0"/>
          </a:p>
        </p:txBody>
      </p:sp>
    </p:spTree>
  </p:cSld>
  <p:clrMapOvr>
    <a:masterClrMapping/>
  </p:clrMapOvr>
  <p:transition spd="slow">
    <p:randomBar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1169"/>
            <a:ext cx="1691060" cy="263133"/>
          </a:xfrm>
          <a:prstGeom prst="roundRect">
            <a:avLst>
              <a:gd name="adj" fmla="val 3616223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333970"/>
            <a:ext cx="169106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970"/>
              </a:lnSpc>
              <a:buNone/>
            </a:pPr>
            <a:r>
              <a:rPr lang="en-US" sz="800" b="1" kern="0" spc="116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RESILIENCE &amp; PROTECTION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2233985" y="315811"/>
            <a:ext cx="778222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498303" y="400050"/>
            <a:ext cx="6188497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Luthando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2341141" y="399157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055" dirty="0"/>
          </a:p>
        </p:txBody>
      </p:sp>
      <p:sp>
        <p:nvSpPr>
          <p:cNvPr id="7" name="Text 5"/>
          <p:cNvSpPr/>
          <p:nvPr/>
        </p:nvSpPr>
        <p:spPr>
          <a:xfrm>
            <a:off x="457200" y="676870"/>
            <a:ext cx="8636000" cy="42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1"/>
              </a:lnSpc>
              <a:buNone/>
            </a:pPr>
            <a:r>
              <a:rPr lang="en-US" sz="2925" b="1" kern="0" spc="-64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Backup, recovery &amp; cybersecurity</a:t>
            </a:r>
            <a:endParaRPr lang="en-US" sz="2925" dirty="0"/>
          </a:p>
        </p:txBody>
      </p:sp>
      <p:sp>
        <p:nvSpPr>
          <p:cNvPr id="8" name="Text 6"/>
          <p:cNvSpPr/>
          <p:nvPr/>
        </p:nvSpPr>
        <p:spPr>
          <a:xfrm>
            <a:off x="460772" y="1132284"/>
            <a:ext cx="4250531" cy="1578992"/>
          </a:xfrm>
          <a:prstGeom prst="roundRect">
            <a:avLst>
              <a:gd name="adj" fmla="val 1206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35794" y="1321594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←</a:t>
            </a:r>
            <a:endParaRPr lang="en-US" sz="1547" dirty="0"/>
          </a:p>
        </p:txBody>
      </p:sp>
      <p:sp>
        <p:nvSpPr>
          <p:cNvPr id="10" name="Text 8"/>
          <p:cNvSpPr/>
          <p:nvPr/>
        </p:nvSpPr>
        <p:spPr>
          <a:xfrm>
            <a:off x="871538" y="1293019"/>
            <a:ext cx="36647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kern="0" spc="-11" dirty="0">
                <a:solidFill>
                  <a:srgbClr val="F5EFE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Backup: the 3-2-1 rule</a:t>
            </a:r>
            <a:endParaRPr lang="en-US" sz="1125" dirty="0"/>
          </a:p>
        </p:txBody>
      </p:sp>
      <p:sp>
        <p:nvSpPr>
          <p:cNvPr id="11" name="Text 9"/>
          <p:cNvSpPr/>
          <p:nvPr/>
        </p:nvSpPr>
        <p:spPr>
          <a:xfrm>
            <a:off x="635794" y="1585913"/>
            <a:ext cx="3900488" cy="3705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1"/>
              </a:lnSpc>
              <a:buNone/>
            </a:pPr>
            <a:r>
              <a:rPr lang="en-US" sz="872" b="1" dirty="0">
                <a:solidFill>
                  <a:srgbClr val="F5EFE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r>
              <a:rPr lang="en-US" sz="87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copies of the data · </a:t>
            </a:r>
            <a:r>
              <a:rPr lang="en-US" sz="872" b="1" dirty="0">
                <a:solidFill>
                  <a:srgbClr val="F5EFE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r>
              <a:rPr lang="en-US" sz="87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devices · </a:t>
            </a:r>
            <a:r>
              <a:rPr lang="en-US" sz="872" b="1" dirty="0">
                <a:solidFill>
                  <a:srgbClr val="F5EFE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r>
              <a:rPr lang="en-US" sz="87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copy offsite </a:t>
            </a:r>
            <a:r>
              <a:rPr lang="en-US" sz="872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live NAS, a local backup drive, and an encrypted cloud copy.</a:t>
            </a:r>
            <a:endParaRPr lang="en-US" sz="872" dirty="0"/>
          </a:p>
        </p:txBody>
      </p:sp>
      <p:sp>
        <p:nvSpPr>
          <p:cNvPr id="12" name="Text 10"/>
          <p:cNvSpPr/>
          <p:nvPr/>
        </p:nvSpPr>
        <p:spPr>
          <a:xfrm>
            <a:off x="639366" y="2046908"/>
            <a:ext cx="1235869" cy="500063"/>
          </a:xfrm>
          <a:prstGeom prst="roundRect">
            <a:avLst>
              <a:gd name="adj" fmla="val 26667"/>
            </a:avLst>
          </a:prstGeom>
          <a:solidFill>
            <a:srgbClr val="221531"/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742950" y="2129061"/>
            <a:ext cx="1028700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 hrs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742950" y="2336229"/>
            <a:ext cx="10287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RTO: critical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68103" y="2046908"/>
            <a:ext cx="1235869" cy="500063"/>
          </a:xfrm>
          <a:prstGeom prst="roundRect">
            <a:avLst>
              <a:gd name="adj" fmla="val 26667"/>
            </a:avLst>
          </a:prstGeom>
          <a:solidFill>
            <a:srgbClr val="221531"/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2071688" y="2129061"/>
            <a:ext cx="1028700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 hr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2071688" y="2336229"/>
            <a:ext cx="10287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RPO: snapshots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296841" y="2046908"/>
            <a:ext cx="1235869" cy="500063"/>
          </a:xfrm>
          <a:prstGeom prst="roundRect">
            <a:avLst>
              <a:gd name="adj" fmla="val 26667"/>
            </a:avLst>
          </a:prstGeom>
          <a:solidFill>
            <a:srgbClr val="221531"/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3400425" y="2129061"/>
            <a:ext cx="1028700" cy="17973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3400425" y="2336229"/>
            <a:ext cx="102870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restore tests / yr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460772" y="2832720"/>
            <a:ext cx="4250531" cy="1664271"/>
          </a:xfrm>
          <a:prstGeom prst="roundRect">
            <a:avLst>
              <a:gd name="adj" fmla="val 11446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635794" y="3022029"/>
            <a:ext cx="157163" cy="1571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547" dirty="0">
                <a:solidFill>
                  <a:srgbClr val="A78BFA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⛨</a:t>
            </a:r>
            <a:endParaRPr lang="en-US" sz="1547" dirty="0"/>
          </a:p>
        </p:txBody>
      </p:sp>
      <p:sp>
        <p:nvSpPr>
          <p:cNvPr id="23" name="Text 21"/>
          <p:cNvSpPr/>
          <p:nvPr/>
        </p:nvSpPr>
        <p:spPr>
          <a:xfrm>
            <a:off x="871538" y="2993454"/>
            <a:ext cx="3664744" cy="2314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88"/>
              </a:lnSpc>
              <a:buNone/>
            </a:pPr>
            <a:r>
              <a:rPr lang="en-US" sz="1125" kern="0" spc="-11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Cybersecurity policy highlights</a:t>
            </a:r>
            <a:endParaRPr lang="en-US" sz="1125" dirty="0"/>
          </a:p>
        </p:txBody>
      </p:sp>
      <p:sp>
        <p:nvSpPr>
          <p:cNvPr id="24" name="Text 22"/>
          <p:cNvSpPr/>
          <p:nvPr/>
        </p:nvSpPr>
        <p:spPr>
          <a:xfrm>
            <a:off x="635794" y="3413038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792956" y="3355888"/>
            <a:ext cx="374332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7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12+ character passphrases, no forced 90-day resets — current NIST guidance</a:t>
            </a:r>
            <a:endParaRPr lang="en-US" sz="872" dirty="0"/>
          </a:p>
        </p:txBody>
      </p:sp>
      <p:sp>
        <p:nvSpPr>
          <p:cNvPr id="26" name="Text 24"/>
          <p:cNvSpPr/>
          <p:nvPr/>
        </p:nvSpPr>
        <p:spPr>
          <a:xfrm>
            <a:off x="635794" y="3850593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792956" y="3793443"/>
            <a:ext cx="3743325" cy="1793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7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MFA required on every sign-in: email, VPN, admin consoles</a:t>
            </a:r>
            <a:endParaRPr lang="en-US" sz="872" dirty="0"/>
          </a:p>
        </p:txBody>
      </p:sp>
      <p:sp>
        <p:nvSpPr>
          <p:cNvPr id="28" name="Text 26"/>
          <p:cNvSpPr/>
          <p:nvPr/>
        </p:nvSpPr>
        <p:spPr>
          <a:xfrm>
            <a:off x="635794" y="4121944"/>
            <a:ext cx="57150" cy="57150"/>
          </a:xfrm>
          <a:prstGeom prst="ellipse">
            <a:avLst/>
          </a:prstGeom>
          <a:solidFill>
            <a:srgbClr val="FF7A4D"/>
          </a:solidFill>
          <a:ln/>
          <a:effectLst>
            <a:outerShdw blurRad="114300" dist="50800" dir="16200000" algn="bl" rotWithShape="0">
              <a:srgbClr val="FF7A4D">
                <a:alpha val="90000"/>
              </a:srgbClr>
            </a:outerShdw>
          </a:effectLst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792956" y="4064794"/>
            <a:ext cx="3743325" cy="179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72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Disk encryption + antivirus on every device, patched on a strict schedule</a:t>
            </a:r>
            <a:endParaRPr lang="en-US" sz="872" dirty="0"/>
          </a:p>
        </p:txBody>
      </p:sp>
      <p:pic>
        <p:nvPicPr>
          <p:cNvPr id="30" name="Image 0" descr="/tmp/h2p-fit-1791279094373-bq4h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4900" y="1128713"/>
            <a:ext cx="3771900" cy="2682478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31" name="Text 28"/>
          <p:cNvSpPr/>
          <p:nvPr/>
        </p:nvSpPr>
        <p:spPr>
          <a:xfrm>
            <a:off x="4914900" y="3925491"/>
            <a:ext cx="3771900" cy="575072"/>
          </a:xfrm>
          <a:prstGeom prst="roundRect">
            <a:avLst>
              <a:gd name="adj" fmla="val 33126"/>
            </a:avLst>
          </a:prstGeom>
          <a:solidFill>
            <a:srgbClr val="FFFFFF">
              <a:alpha val="4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Shape 29"/>
          <p:cNvSpPr/>
          <p:nvPr/>
        </p:nvSpPr>
        <p:spPr>
          <a:xfrm>
            <a:off x="4914900" y="3929063"/>
            <a:ext cx="37719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Shape 30"/>
          <p:cNvSpPr/>
          <p:nvPr/>
        </p:nvSpPr>
        <p:spPr>
          <a:xfrm>
            <a:off x="8683228" y="3925491"/>
            <a:ext cx="0" cy="575072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4" name="Shape 31"/>
          <p:cNvSpPr/>
          <p:nvPr/>
        </p:nvSpPr>
        <p:spPr>
          <a:xfrm>
            <a:off x="4914900" y="4496991"/>
            <a:ext cx="37719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5" name="Shape 32"/>
          <p:cNvSpPr/>
          <p:nvPr/>
        </p:nvSpPr>
        <p:spPr>
          <a:xfrm>
            <a:off x="4925616" y="3925491"/>
            <a:ext cx="0" cy="575072"/>
          </a:xfrm>
          <a:prstGeom prst="line">
            <a:avLst/>
          </a:prstGeom>
          <a:noFill/>
          <a:ln w="21431">
            <a:solidFill>
              <a:srgbClr val="E95420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6" name="Text 33"/>
          <p:cNvSpPr/>
          <p:nvPr/>
        </p:nvSpPr>
        <p:spPr>
          <a:xfrm>
            <a:off x="5093494" y="4046934"/>
            <a:ext cx="3429000" cy="33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8"/>
              </a:lnSpc>
              <a:buNone/>
            </a:pPr>
            <a:r>
              <a:rPr lang="en-US" sz="872" dirty="0">
                <a:solidFill>
                  <a:srgbClr val="F5EFE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Defence in depth: 6 layers,</a:t>
            </a:r>
            <a:r>
              <a:rPr lang="en-US" sz="872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from people and policy down to the data itself — no single control is ever trusted alone.</a:t>
            </a:r>
            <a:endParaRPr lang="en-US" sz="872" dirty="0"/>
          </a:p>
        </p:txBody>
      </p:sp>
      <p:sp>
        <p:nvSpPr>
          <p:cNvPr id="37" name="Shape 34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8" name="Text 35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9" name="Text 36"/>
          <p:cNvSpPr/>
          <p:nvPr/>
        </p:nvSpPr>
        <p:spPr>
          <a:xfrm>
            <a:off x="440438" y="4772025"/>
            <a:ext cx="258552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844"/>
              </a:lnSpc>
              <a:buNone/>
            </a:pPr>
            <a:r>
              <a:rPr lang="en-US" sz="800" b="1" kern="0" spc="34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21519" y="4795242"/>
            <a:ext cx="2042251" cy="162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7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31" dirty="0"/>
          </a:p>
        </p:txBody>
      </p:sp>
      <p:sp>
        <p:nvSpPr>
          <p:cNvPr id="41" name="Text 38"/>
          <p:cNvSpPr/>
          <p:nvPr/>
        </p:nvSpPr>
        <p:spPr>
          <a:xfrm>
            <a:off x="8361959" y="4792563"/>
            <a:ext cx="360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 / 10</a:t>
            </a:r>
            <a:endParaRPr lang="en-US" sz="759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071562" y="1214438"/>
            <a:ext cx="3857625" cy="385762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-1071562" y="1214438"/>
            <a:ext cx="3857625" cy="3857625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61352"/>
            <a:ext cx="1521172" cy="268491"/>
          </a:xfrm>
          <a:prstGeom prst="roundRect">
            <a:avLst>
              <a:gd name="adj" fmla="val 3544057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4356" y="467023"/>
            <a:ext cx="57150" cy="57150"/>
          </a:xfrm>
          <a:prstGeom prst="roundRect">
            <a:avLst>
              <a:gd name="adj" fmla="val 66667"/>
            </a:avLst>
          </a:prstGeom>
          <a:solidFill>
            <a:srgbClr val="FF7A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374154"/>
            <a:ext cx="1521172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108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DAY-TO-DAY SUPPORT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2078385" y="358673"/>
            <a:ext cx="828117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2342704" y="442913"/>
            <a:ext cx="6344096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Masibulele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2185541" y="44202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055" dirty="0"/>
          </a:p>
        </p:txBody>
      </p:sp>
      <p:sp>
        <p:nvSpPr>
          <p:cNvPr id="10" name="Text 7"/>
          <p:cNvSpPr/>
          <p:nvPr/>
        </p:nvSpPr>
        <p:spPr>
          <a:xfrm>
            <a:off x="457200" y="734020"/>
            <a:ext cx="8636000" cy="4212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1"/>
              </a:lnSpc>
              <a:buNone/>
            </a:pPr>
            <a:r>
              <a:rPr lang="en-US" sz="2925" b="1" kern="0" spc="-5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Shared folders, support &amp; risk</a:t>
            </a:r>
            <a:endParaRPr lang="en-US" sz="2925" dirty="0"/>
          </a:p>
        </p:txBody>
      </p:sp>
      <p:pic>
        <p:nvPicPr>
          <p:cNvPr id="11" name="Image 1" descr="/tmp/h2p-fit-1791279094397-qgmwi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295474"/>
            <a:ext cx="3086100" cy="1714500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460772" y="3142134"/>
            <a:ext cx="1478756" cy="80010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592931" y="3260006"/>
            <a:ext cx="1214437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 / 24</a:t>
            </a:r>
            <a:endParaRPr lang="en-US" sz="2025" dirty="0"/>
          </a:p>
        </p:txBody>
      </p:sp>
      <p:sp>
        <p:nvSpPr>
          <p:cNvPr id="14" name="Text 10"/>
          <p:cNvSpPr/>
          <p:nvPr/>
        </p:nvSpPr>
        <p:spPr>
          <a:xfrm>
            <a:off x="592931" y="3574331"/>
            <a:ext cx="121443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department folders / subfolders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2060972" y="3142134"/>
            <a:ext cx="1478756" cy="800100"/>
          </a:xfrm>
          <a:prstGeom prst="roundRect">
            <a:avLst>
              <a:gd name="adj" fmla="val 2381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2193131" y="3260006"/>
            <a:ext cx="1214438" cy="2777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25"/>
              </a:lnSpc>
              <a:buNone/>
            </a:pPr>
            <a:r>
              <a:rPr lang="en-US" sz="2025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2025" dirty="0"/>
          </a:p>
        </p:txBody>
      </p:sp>
      <p:sp>
        <p:nvSpPr>
          <p:cNvPr id="17" name="Text 13"/>
          <p:cNvSpPr/>
          <p:nvPr/>
        </p:nvSpPr>
        <p:spPr>
          <a:xfrm>
            <a:off x="2193131" y="3574331"/>
            <a:ext cx="1214438" cy="250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84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documented troubleshooting cases</a:t>
            </a:r>
            <a:endParaRPr lang="en-US" sz="800" dirty="0"/>
          </a:p>
        </p:txBody>
      </p:sp>
      <p:sp>
        <p:nvSpPr>
          <p:cNvPr id="18" name="Text 14"/>
          <p:cNvSpPr/>
          <p:nvPr/>
        </p:nvSpPr>
        <p:spPr>
          <a:xfrm>
            <a:off x="457200" y="4060106"/>
            <a:ext cx="3086100" cy="3510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15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Folders match the Permissions Matrix exactly; each ticket records symptoms, causes, steps and resolution.</a:t>
            </a:r>
            <a:endParaRPr lang="en-US" sz="800" dirty="0"/>
          </a:p>
        </p:txBody>
      </p:sp>
      <p:sp>
        <p:nvSpPr>
          <p:cNvPr id="19" name="Text 15"/>
          <p:cNvSpPr/>
          <p:nvPr/>
        </p:nvSpPr>
        <p:spPr>
          <a:xfrm>
            <a:off x="3804047" y="1299046"/>
            <a:ext cx="4879181" cy="3050381"/>
          </a:xfrm>
          <a:prstGeom prst="roundRect">
            <a:avLst>
              <a:gd name="adj" fmla="val 6245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4007644" y="1515145"/>
            <a:ext cx="142875" cy="14287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406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⚠</a:t>
            </a:r>
            <a:endParaRPr lang="en-US" sz="1406" dirty="0"/>
          </a:p>
        </p:txBody>
      </p:sp>
      <p:sp>
        <p:nvSpPr>
          <p:cNvPr id="21" name="Text 17"/>
          <p:cNvSpPr/>
          <p:nvPr/>
        </p:nvSpPr>
        <p:spPr>
          <a:xfrm>
            <a:off x="4221956" y="1474068"/>
            <a:ext cx="4257675" cy="2430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Top risks identified</a:t>
            </a:r>
            <a:endParaRPr lang="en-US" sz="1181" dirty="0"/>
          </a:p>
        </p:txBody>
      </p:sp>
      <p:sp>
        <p:nvSpPr>
          <p:cNvPr id="22" name="Shape 18"/>
          <p:cNvSpPr/>
          <p:nvPr/>
        </p:nvSpPr>
        <p:spPr>
          <a:xfrm>
            <a:off x="4007644" y="2006278"/>
            <a:ext cx="4471988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3" name="Text 19"/>
          <p:cNvSpPr/>
          <p:nvPr/>
        </p:nvSpPr>
        <p:spPr>
          <a:xfrm>
            <a:off x="4007644" y="1813396"/>
            <a:ext cx="397764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Risk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6493669" y="1813396"/>
            <a:ext cx="1371901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Likelihood</a:t>
            </a:r>
            <a:endParaRPr lang="en-US" sz="800" dirty="0"/>
          </a:p>
        </p:txBody>
      </p:sp>
      <p:sp>
        <p:nvSpPr>
          <p:cNvPr id="25" name="Text 21"/>
          <p:cNvSpPr/>
          <p:nvPr/>
        </p:nvSpPr>
        <p:spPr>
          <a:xfrm>
            <a:off x="7565231" y="1813396"/>
            <a:ext cx="914400" cy="117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928"/>
              </a:lnSpc>
              <a:buNone/>
            </a:pPr>
            <a:r>
              <a:rPr lang="en-US" sz="800" kern="0" spc="87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Impact</a:t>
            </a:r>
            <a:endParaRPr lang="en-US" sz="800" dirty="0"/>
          </a:p>
        </p:txBody>
      </p:sp>
      <p:sp>
        <p:nvSpPr>
          <p:cNvPr id="26" name="Shape 22"/>
          <p:cNvSpPr/>
          <p:nvPr/>
        </p:nvSpPr>
        <p:spPr>
          <a:xfrm>
            <a:off x="4007644" y="2489932"/>
            <a:ext cx="4471988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27" name="Text 23"/>
          <p:cNvSpPr/>
          <p:nvPr/>
        </p:nvSpPr>
        <p:spPr>
          <a:xfrm>
            <a:off x="4007644" y="2162324"/>
            <a:ext cx="3182112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Phishing</a:t>
            </a:r>
            <a:endParaRPr lang="en-US" sz="900" dirty="0"/>
          </a:p>
        </p:txBody>
      </p:sp>
      <p:sp>
        <p:nvSpPr>
          <p:cNvPr id="28" name="Text 24"/>
          <p:cNvSpPr/>
          <p:nvPr/>
        </p:nvSpPr>
        <p:spPr>
          <a:xfrm>
            <a:off x="6493669" y="2158038"/>
            <a:ext cx="398487" cy="180023"/>
          </a:xfrm>
          <a:prstGeom prst="roundRect">
            <a:avLst>
              <a:gd name="adj" fmla="val 5285700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6493669" y="2167682"/>
            <a:ext cx="3984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30" name="Text 26"/>
          <p:cNvSpPr/>
          <p:nvPr/>
        </p:nvSpPr>
        <p:spPr>
          <a:xfrm>
            <a:off x="7549292" y="2158038"/>
            <a:ext cx="430366" cy="180023"/>
          </a:xfrm>
          <a:prstGeom prst="roundRect">
            <a:avLst>
              <a:gd name="adj" fmla="val 5285700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1" name="Text 27"/>
          <p:cNvSpPr/>
          <p:nvPr/>
        </p:nvSpPr>
        <p:spPr>
          <a:xfrm>
            <a:off x="7565231" y="2167682"/>
            <a:ext cx="3984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32" name="Shape 28"/>
          <p:cNvSpPr/>
          <p:nvPr/>
        </p:nvSpPr>
        <p:spPr>
          <a:xfrm>
            <a:off x="4007644" y="2973698"/>
            <a:ext cx="4471988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3" name="Text 29"/>
          <p:cNvSpPr/>
          <p:nvPr/>
        </p:nvSpPr>
        <p:spPr>
          <a:xfrm>
            <a:off x="4007644" y="2646090"/>
            <a:ext cx="291362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Ransomware</a:t>
            </a:r>
            <a:endParaRPr lang="en-US" sz="900" dirty="0"/>
          </a:p>
        </p:txBody>
      </p:sp>
      <p:sp>
        <p:nvSpPr>
          <p:cNvPr id="34" name="Text 30"/>
          <p:cNvSpPr/>
          <p:nvPr/>
        </p:nvSpPr>
        <p:spPr>
          <a:xfrm>
            <a:off x="6493669" y="2641803"/>
            <a:ext cx="537456" cy="180023"/>
          </a:xfrm>
          <a:prstGeom prst="roundRect">
            <a:avLst>
              <a:gd name="adj" fmla="val 5285700"/>
            </a:avLst>
          </a:prstGeom>
          <a:solidFill>
            <a:srgbClr val="A78BFA">
              <a:alpha val="15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5" name="Text 31"/>
          <p:cNvSpPr/>
          <p:nvPr/>
        </p:nvSpPr>
        <p:spPr>
          <a:xfrm>
            <a:off x="6493669" y="2651447"/>
            <a:ext cx="537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CBBB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36" name="Text 32"/>
          <p:cNvSpPr/>
          <p:nvPr/>
        </p:nvSpPr>
        <p:spPr>
          <a:xfrm>
            <a:off x="7549292" y="2641803"/>
            <a:ext cx="430366" cy="180023"/>
          </a:xfrm>
          <a:prstGeom prst="roundRect">
            <a:avLst>
              <a:gd name="adj" fmla="val 5285700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7" name="Text 33"/>
          <p:cNvSpPr/>
          <p:nvPr/>
        </p:nvSpPr>
        <p:spPr>
          <a:xfrm>
            <a:off x="7565231" y="2651447"/>
            <a:ext cx="3984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38" name="Shape 34"/>
          <p:cNvSpPr/>
          <p:nvPr/>
        </p:nvSpPr>
        <p:spPr>
          <a:xfrm>
            <a:off x="4007644" y="3457463"/>
            <a:ext cx="4471988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39" name="Text 35"/>
          <p:cNvSpPr/>
          <p:nvPr/>
        </p:nvSpPr>
        <p:spPr>
          <a:xfrm>
            <a:off x="4007644" y="3129855"/>
            <a:ext cx="2610326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Hardware failure</a:t>
            </a:r>
            <a:endParaRPr lang="en-US" sz="900" dirty="0"/>
          </a:p>
        </p:txBody>
      </p:sp>
      <p:sp>
        <p:nvSpPr>
          <p:cNvPr id="40" name="Text 36"/>
          <p:cNvSpPr/>
          <p:nvPr/>
        </p:nvSpPr>
        <p:spPr>
          <a:xfrm>
            <a:off x="6493669" y="3125569"/>
            <a:ext cx="537456" cy="180023"/>
          </a:xfrm>
          <a:prstGeom prst="roundRect">
            <a:avLst>
              <a:gd name="adj" fmla="val 5285700"/>
            </a:avLst>
          </a:prstGeom>
          <a:solidFill>
            <a:srgbClr val="A78BFA">
              <a:alpha val="15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1" name="Text 37"/>
          <p:cNvSpPr/>
          <p:nvPr/>
        </p:nvSpPr>
        <p:spPr>
          <a:xfrm>
            <a:off x="6493669" y="3135213"/>
            <a:ext cx="537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CBBB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7543733" y="3125569"/>
            <a:ext cx="580452" cy="180023"/>
          </a:xfrm>
          <a:prstGeom prst="roundRect">
            <a:avLst>
              <a:gd name="adj" fmla="val 5285700"/>
            </a:avLst>
          </a:prstGeom>
          <a:solidFill>
            <a:srgbClr val="A78BFA">
              <a:alpha val="15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3" name="Text 39"/>
          <p:cNvSpPr/>
          <p:nvPr/>
        </p:nvSpPr>
        <p:spPr>
          <a:xfrm>
            <a:off x="7565231" y="3135213"/>
            <a:ext cx="537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CBBB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44" name="Text 40"/>
          <p:cNvSpPr/>
          <p:nvPr/>
        </p:nvSpPr>
        <p:spPr>
          <a:xfrm>
            <a:off x="4007644" y="3613621"/>
            <a:ext cx="2913621" cy="1851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9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Power outage</a:t>
            </a:r>
            <a:endParaRPr lang="en-US" sz="900" dirty="0"/>
          </a:p>
        </p:txBody>
      </p:sp>
      <p:sp>
        <p:nvSpPr>
          <p:cNvPr id="45" name="Text 41"/>
          <p:cNvSpPr/>
          <p:nvPr/>
        </p:nvSpPr>
        <p:spPr>
          <a:xfrm>
            <a:off x="6493669" y="3609335"/>
            <a:ext cx="537456" cy="180023"/>
          </a:xfrm>
          <a:prstGeom prst="roundRect">
            <a:avLst>
              <a:gd name="adj" fmla="val 5285700"/>
            </a:avLst>
          </a:prstGeom>
          <a:solidFill>
            <a:srgbClr val="A78BFA">
              <a:alpha val="15000"/>
            </a:srgbClr>
          </a:solidFill>
          <a:ln w="7144">
            <a:solidFill>
              <a:srgbClr val="A78BF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Text 42"/>
          <p:cNvSpPr/>
          <p:nvPr/>
        </p:nvSpPr>
        <p:spPr>
          <a:xfrm>
            <a:off x="6493669" y="3618979"/>
            <a:ext cx="537456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CBBBF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Medium</a:t>
            </a:r>
            <a:endParaRPr lang="en-US" sz="800" dirty="0"/>
          </a:p>
        </p:txBody>
      </p:sp>
      <p:sp>
        <p:nvSpPr>
          <p:cNvPr id="47" name="Text 43"/>
          <p:cNvSpPr/>
          <p:nvPr/>
        </p:nvSpPr>
        <p:spPr>
          <a:xfrm>
            <a:off x="7549292" y="3609335"/>
            <a:ext cx="430366" cy="180023"/>
          </a:xfrm>
          <a:prstGeom prst="roundRect">
            <a:avLst>
              <a:gd name="adj" fmla="val 5285700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8" name="Text 44"/>
          <p:cNvSpPr/>
          <p:nvPr/>
        </p:nvSpPr>
        <p:spPr>
          <a:xfrm>
            <a:off x="7565231" y="3618979"/>
            <a:ext cx="398487" cy="1607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03"/>
              </a:lnSpc>
              <a:buNone/>
            </a:pPr>
            <a:r>
              <a:rPr lang="en-US" sz="800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High</a:t>
            </a:r>
            <a:endParaRPr lang="en-US" sz="800" dirty="0"/>
          </a:p>
        </p:txBody>
      </p:sp>
      <p:sp>
        <p:nvSpPr>
          <p:cNvPr id="49" name="Text 45"/>
          <p:cNvSpPr/>
          <p:nvPr/>
        </p:nvSpPr>
        <p:spPr>
          <a:xfrm>
            <a:off x="4007644" y="3937657"/>
            <a:ext cx="4471988" cy="236748"/>
          </a:xfrm>
          <a:prstGeom prst="rect">
            <a:avLst/>
          </a:prstGeom>
          <a:noFill/>
          <a:ln/>
        </p:spPr>
        <p:txBody>
          <a:bodyPr wrap="square" lIns="0" tIns="85725" rIns="0" bIns="0" rtlCol="0" anchor="t"/>
          <a:lstStyle/>
          <a:p>
            <a:pPr marL="0" indent="0" algn="l">
              <a:lnSpc>
                <a:spcPts val="1133"/>
              </a:lnSpc>
              <a:buNone/>
            </a:pPr>
            <a:r>
              <a:rPr lang="en-US" sz="731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Plus up to 7 more risks we added ourselves: stolen credentials, insider misuse, a lapsed licence, and more.</a:t>
            </a:r>
            <a:endParaRPr lang="en-US" sz="731" dirty="0"/>
          </a:p>
        </p:txBody>
      </p:sp>
      <p:sp>
        <p:nvSpPr>
          <p:cNvPr id="50" name="Shape 46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51" name="Text 47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48"/>
          <p:cNvSpPr/>
          <p:nvPr/>
        </p:nvSpPr>
        <p:spPr>
          <a:xfrm>
            <a:off x="457200" y="4772025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0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53" name="Text 49"/>
          <p:cNvSpPr/>
          <p:nvPr/>
        </p:nvSpPr>
        <p:spPr>
          <a:xfrm>
            <a:off x="728663" y="4792563"/>
            <a:ext cx="2120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59" dirty="0"/>
          </a:p>
        </p:txBody>
      </p:sp>
      <p:sp>
        <p:nvSpPr>
          <p:cNvPr id="54" name="Text 50"/>
          <p:cNvSpPr/>
          <p:nvPr/>
        </p:nvSpPr>
        <p:spPr>
          <a:xfrm>
            <a:off x="8361959" y="4792563"/>
            <a:ext cx="360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 / 10</a:t>
            </a:r>
            <a:endParaRPr lang="en-US" sz="759" dirty="0"/>
          </a:p>
        </p:txBody>
      </p:sp>
    </p:spTree>
  </p:cSld>
  <p:clrMapOvr>
    <a:masterClrMapping/>
  </p:clrMapOvr>
  <p:transition spd="med">
    <p:pull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6375" y="-214312"/>
            <a:ext cx="4143375" cy="307181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86375" y="-214312"/>
            <a:ext cx="4143375" cy="3071813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457200" y="361352"/>
            <a:ext cx="973113" cy="268491"/>
          </a:xfrm>
          <a:prstGeom prst="roundRect">
            <a:avLst>
              <a:gd name="adj" fmla="val 3544057"/>
            </a:avLst>
          </a:prstGeom>
          <a:solidFill>
            <a:srgbClr val="E95420">
              <a:alpha val="12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2"/>
          <p:cNvSpPr/>
          <p:nvPr/>
        </p:nvSpPr>
        <p:spPr>
          <a:xfrm>
            <a:off x="564356" y="467023"/>
            <a:ext cx="57150" cy="57150"/>
          </a:xfrm>
          <a:prstGeom prst="roundRect">
            <a:avLst>
              <a:gd name="adj" fmla="val 66667"/>
            </a:avLst>
          </a:prstGeom>
          <a:solidFill>
            <a:srgbClr val="FF7A4D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3"/>
          <p:cNvSpPr/>
          <p:nvPr/>
        </p:nvSpPr>
        <p:spPr>
          <a:xfrm>
            <a:off x="457200" y="374154"/>
            <a:ext cx="973113" cy="24288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013"/>
              </a:lnSpc>
              <a:buNone/>
            </a:pPr>
            <a:r>
              <a:rPr lang="en-US" sz="800" b="1" kern="0" spc="108" dirty="0">
                <a:solidFill>
                  <a:srgbClr val="FFB599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RESILIENCE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1530325" y="358673"/>
            <a:ext cx="828117" cy="273849"/>
          </a:xfrm>
          <a:prstGeom prst="roundRect">
            <a:avLst>
              <a:gd name="adj" fmla="val 3474716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8" name="Text 5"/>
          <p:cNvSpPr/>
          <p:nvPr/>
        </p:nvSpPr>
        <p:spPr>
          <a:xfrm>
            <a:off x="1794644" y="442913"/>
            <a:ext cx="3663181" cy="122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800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Masibulele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637481" y="442020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☻</a:t>
            </a:r>
            <a:endParaRPr lang="en-US" sz="1055" dirty="0"/>
          </a:p>
        </p:txBody>
      </p:sp>
      <p:sp>
        <p:nvSpPr>
          <p:cNvPr id="10" name="Text 7"/>
          <p:cNvSpPr/>
          <p:nvPr/>
        </p:nvSpPr>
        <p:spPr>
          <a:xfrm>
            <a:off x="457200" y="734020"/>
            <a:ext cx="4714875" cy="8424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71"/>
              </a:lnSpc>
              <a:buNone/>
            </a:pPr>
            <a:r>
              <a:rPr lang="en-US" sz="2925" b="1" kern="0" spc="-58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Incident response &amp; lessons learned</a:t>
            </a:r>
            <a:endParaRPr lang="en-US" sz="2925" dirty="0"/>
          </a:p>
        </p:txBody>
      </p:sp>
      <p:pic>
        <p:nvPicPr>
          <p:cNvPr id="11" name="Image 1" descr="/tmp/h2p-fit-1791279095172-4i9gy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43575" y="342900"/>
            <a:ext cx="2943225" cy="1800225"/>
          </a:xfrm>
          <a:prstGeom prst="rect">
            <a:avLst/>
          </a:prstGeom>
          <a:effectLst>
            <a:outerShdw blurRad="571500" dist="228600" dir="5400000" algn="bl" rotWithShape="0">
              <a:srgbClr val="000000">
                <a:alpha val="45000"/>
              </a:srgbClr>
            </a:outerShdw>
          </a:effectLst>
        </p:spPr>
      </p:pic>
      <p:sp>
        <p:nvSpPr>
          <p:cNvPr id="12" name="Text 8"/>
          <p:cNvSpPr/>
          <p:nvPr/>
        </p:nvSpPr>
        <p:spPr>
          <a:xfrm>
            <a:off x="646509" y="1760934"/>
            <a:ext cx="264319" cy="264319"/>
          </a:xfrm>
          <a:prstGeom prst="roundRect">
            <a:avLst>
              <a:gd name="adj" fmla="val 3599997"/>
            </a:avLst>
          </a:prstGeom>
          <a:solidFill>
            <a:srgbClr val="E95420">
              <a:alpha val="15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3" name="Text 9"/>
          <p:cNvSpPr/>
          <p:nvPr/>
        </p:nvSpPr>
        <p:spPr>
          <a:xfrm>
            <a:off x="642938" y="1757363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</a:t>
            </a:r>
            <a:endParaRPr lang="en-US" sz="844" dirty="0"/>
          </a:p>
        </p:txBody>
      </p:sp>
      <p:sp>
        <p:nvSpPr>
          <p:cNvPr id="14" name="Text 10"/>
          <p:cNvSpPr/>
          <p:nvPr/>
        </p:nvSpPr>
        <p:spPr>
          <a:xfrm>
            <a:off x="511207" y="2093119"/>
            <a:ext cx="534924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Detection</a:t>
            </a:r>
            <a:endParaRPr lang="en-US" sz="703" dirty="0"/>
          </a:p>
        </p:txBody>
      </p:sp>
      <p:sp>
        <p:nvSpPr>
          <p:cNvPr id="15" name="Text 11"/>
          <p:cNvSpPr/>
          <p:nvPr/>
        </p:nvSpPr>
        <p:spPr>
          <a:xfrm>
            <a:off x="1143000" y="1893094"/>
            <a:ext cx="145666" cy="7144"/>
          </a:xfrm>
          <a:prstGeom prst="rect">
            <a:avLst/>
          </a:prstGeom>
          <a:solidFill>
            <a:srgbClr val="F5EFEA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1520837" y="1760934"/>
            <a:ext cx="264319" cy="264319"/>
          </a:xfrm>
          <a:prstGeom prst="roundRect">
            <a:avLst>
              <a:gd name="adj" fmla="val 3599997"/>
            </a:avLst>
          </a:prstGeom>
          <a:solidFill>
            <a:srgbClr val="E95420">
              <a:alpha val="15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7" name="Text 13"/>
          <p:cNvSpPr/>
          <p:nvPr/>
        </p:nvSpPr>
        <p:spPr>
          <a:xfrm>
            <a:off x="1517266" y="1757363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</a:t>
            </a:r>
            <a:endParaRPr lang="en-US" sz="844" dirty="0"/>
          </a:p>
        </p:txBody>
      </p:sp>
      <p:sp>
        <p:nvSpPr>
          <p:cNvPr id="18" name="Text 14"/>
          <p:cNvSpPr/>
          <p:nvPr/>
        </p:nvSpPr>
        <p:spPr>
          <a:xfrm>
            <a:off x="1385479" y="2093119"/>
            <a:ext cx="534924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Reporting</a:t>
            </a:r>
            <a:endParaRPr lang="en-US" sz="703" dirty="0"/>
          </a:p>
        </p:txBody>
      </p:sp>
      <p:sp>
        <p:nvSpPr>
          <p:cNvPr id="19" name="Text 15"/>
          <p:cNvSpPr/>
          <p:nvPr/>
        </p:nvSpPr>
        <p:spPr>
          <a:xfrm>
            <a:off x="2017328" y="1893094"/>
            <a:ext cx="145777" cy="7144"/>
          </a:xfrm>
          <a:prstGeom prst="rect">
            <a:avLst/>
          </a:prstGeom>
          <a:solidFill>
            <a:srgbClr val="F5EFEA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0" name="Text 16"/>
          <p:cNvSpPr/>
          <p:nvPr/>
        </p:nvSpPr>
        <p:spPr>
          <a:xfrm>
            <a:off x="2395277" y="1760934"/>
            <a:ext cx="264319" cy="264319"/>
          </a:xfrm>
          <a:prstGeom prst="roundRect">
            <a:avLst>
              <a:gd name="adj" fmla="val 3599997"/>
            </a:avLst>
          </a:prstGeom>
          <a:solidFill>
            <a:srgbClr val="E95420">
              <a:alpha val="15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2391705" y="1757363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</a:t>
            </a:r>
            <a:endParaRPr lang="en-US" sz="844" dirty="0"/>
          </a:p>
        </p:txBody>
      </p:sp>
      <p:sp>
        <p:nvSpPr>
          <p:cNvPr id="22" name="Text 18"/>
          <p:cNvSpPr/>
          <p:nvPr/>
        </p:nvSpPr>
        <p:spPr>
          <a:xfrm>
            <a:off x="2205182" y="2093119"/>
            <a:ext cx="644509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Containment</a:t>
            </a:r>
            <a:endParaRPr lang="en-US" sz="703" dirty="0"/>
          </a:p>
        </p:txBody>
      </p:sp>
      <p:sp>
        <p:nvSpPr>
          <p:cNvPr id="23" name="Text 19"/>
          <p:cNvSpPr/>
          <p:nvPr/>
        </p:nvSpPr>
        <p:spPr>
          <a:xfrm>
            <a:off x="2891768" y="1893094"/>
            <a:ext cx="145666" cy="7144"/>
          </a:xfrm>
          <a:prstGeom prst="rect">
            <a:avLst/>
          </a:prstGeom>
          <a:solidFill>
            <a:srgbClr val="F5EFEA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4" name="Text 20"/>
          <p:cNvSpPr/>
          <p:nvPr/>
        </p:nvSpPr>
        <p:spPr>
          <a:xfrm>
            <a:off x="3269605" y="1760934"/>
            <a:ext cx="264319" cy="264319"/>
          </a:xfrm>
          <a:prstGeom prst="roundRect">
            <a:avLst>
              <a:gd name="adj" fmla="val 3599997"/>
            </a:avLst>
          </a:prstGeom>
          <a:solidFill>
            <a:srgbClr val="E95420">
              <a:alpha val="15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1"/>
          <p:cNvSpPr/>
          <p:nvPr/>
        </p:nvSpPr>
        <p:spPr>
          <a:xfrm>
            <a:off x="3266033" y="1757363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</a:t>
            </a:r>
            <a:endParaRPr lang="en-US" sz="844" dirty="0"/>
          </a:p>
        </p:txBody>
      </p:sp>
      <p:sp>
        <p:nvSpPr>
          <p:cNvPr id="26" name="Text 22"/>
          <p:cNvSpPr/>
          <p:nvPr/>
        </p:nvSpPr>
        <p:spPr>
          <a:xfrm>
            <a:off x="3079454" y="2093119"/>
            <a:ext cx="644509" cy="1426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Eradication</a:t>
            </a:r>
            <a:endParaRPr lang="en-US" sz="703" dirty="0"/>
          </a:p>
        </p:txBody>
      </p:sp>
      <p:sp>
        <p:nvSpPr>
          <p:cNvPr id="27" name="Text 23"/>
          <p:cNvSpPr/>
          <p:nvPr/>
        </p:nvSpPr>
        <p:spPr>
          <a:xfrm>
            <a:off x="3766096" y="1893094"/>
            <a:ext cx="145777" cy="7144"/>
          </a:xfrm>
          <a:prstGeom prst="rect">
            <a:avLst/>
          </a:prstGeom>
          <a:solidFill>
            <a:srgbClr val="F5EFEA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8" name="Text 24"/>
          <p:cNvSpPr/>
          <p:nvPr/>
        </p:nvSpPr>
        <p:spPr>
          <a:xfrm>
            <a:off x="4144045" y="1760934"/>
            <a:ext cx="264319" cy="264319"/>
          </a:xfrm>
          <a:prstGeom prst="roundRect">
            <a:avLst>
              <a:gd name="adj" fmla="val 3599997"/>
            </a:avLst>
          </a:prstGeom>
          <a:solidFill>
            <a:srgbClr val="E95420">
              <a:alpha val="15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9" name="Text 25"/>
          <p:cNvSpPr/>
          <p:nvPr/>
        </p:nvSpPr>
        <p:spPr>
          <a:xfrm>
            <a:off x="4140473" y="1757363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</a:t>
            </a:r>
            <a:endParaRPr lang="en-US" sz="844" dirty="0"/>
          </a:p>
        </p:txBody>
      </p:sp>
      <p:sp>
        <p:nvSpPr>
          <p:cNvPr id="30" name="Text 26"/>
          <p:cNvSpPr/>
          <p:nvPr/>
        </p:nvSpPr>
        <p:spPr>
          <a:xfrm>
            <a:off x="4034761" y="2093119"/>
            <a:ext cx="482775" cy="1426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703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Recovery</a:t>
            </a:r>
            <a:endParaRPr lang="en-US" sz="703" dirty="0"/>
          </a:p>
        </p:txBody>
      </p:sp>
      <p:sp>
        <p:nvSpPr>
          <p:cNvPr id="31" name="Text 27"/>
          <p:cNvSpPr/>
          <p:nvPr/>
        </p:nvSpPr>
        <p:spPr>
          <a:xfrm>
            <a:off x="4640535" y="1893094"/>
            <a:ext cx="145777" cy="7144"/>
          </a:xfrm>
          <a:prstGeom prst="rect">
            <a:avLst/>
          </a:prstGeom>
          <a:solidFill>
            <a:srgbClr val="F5EFEA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2" name="Text 28"/>
          <p:cNvSpPr/>
          <p:nvPr/>
        </p:nvSpPr>
        <p:spPr>
          <a:xfrm>
            <a:off x="5018484" y="1760934"/>
            <a:ext cx="264319" cy="264319"/>
          </a:xfrm>
          <a:prstGeom prst="roundRect">
            <a:avLst>
              <a:gd name="adj" fmla="val 3599997"/>
            </a:avLst>
          </a:prstGeom>
          <a:solidFill>
            <a:srgbClr val="E95420">
              <a:alpha val="15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3" name="Text 29"/>
          <p:cNvSpPr/>
          <p:nvPr/>
        </p:nvSpPr>
        <p:spPr>
          <a:xfrm>
            <a:off x="5014913" y="1757363"/>
            <a:ext cx="27146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1266"/>
              </a:lnSpc>
              <a:buNone/>
            </a:pPr>
            <a:r>
              <a:rPr lang="en-US" sz="844" b="1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</a:t>
            </a:r>
            <a:endParaRPr lang="en-US" sz="844" dirty="0"/>
          </a:p>
        </p:txBody>
      </p:sp>
      <p:sp>
        <p:nvSpPr>
          <p:cNvPr id="34" name="Text 30"/>
          <p:cNvSpPr/>
          <p:nvPr/>
        </p:nvSpPr>
        <p:spPr>
          <a:xfrm>
            <a:off x="4829175" y="2093119"/>
            <a:ext cx="642938" cy="2852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914"/>
              </a:lnSpc>
              <a:buNone/>
            </a:pPr>
            <a:r>
              <a:rPr lang="en-US" sz="800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Lessons learned</a:t>
            </a:r>
            <a:endParaRPr lang="en-US" sz="800" dirty="0"/>
          </a:p>
        </p:txBody>
      </p:sp>
      <p:sp>
        <p:nvSpPr>
          <p:cNvPr id="35" name="Text 31"/>
          <p:cNvSpPr/>
          <p:nvPr/>
        </p:nvSpPr>
        <p:spPr>
          <a:xfrm>
            <a:off x="460772" y="2546747"/>
            <a:ext cx="8222456" cy="1778794"/>
          </a:xfrm>
          <a:prstGeom prst="roundRect">
            <a:avLst>
              <a:gd name="adj" fmla="val 10710"/>
            </a:avLst>
          </a:prstGeom>
          <a:solidFill>
            <a:srgbClr val="FFFFFF">
              <a:alpha val="4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6" name="Text 32"/>
          <p:cNvSpPr/>
          <p:nvPr/>
        </p:nvSpPr>
        <p:spPr>
          <a:xfrm>
            <a:off x="707231" y="2750344"/>
            <a:ext cx="7839265" cy="243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772"/>
              </a:lnSpc>
              <a:buNone/>
            </a:pPr>
            <a:r>
              <a:rPr lang="en-US" sz="1181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this project taught us</a:t>
            </a:r>
            <a:endParaRPr lang="en-US" sz="1181" dirty="0"/>
          </a:p>
        </p:txBody>
      </p:sp>
      <p:sp>
        <p:nvSpPr>
          <p:cNvPr id="37" name="Text 33"/>
          <p:cNvSpPr/>
          <p:nvPr/>
        </p:nvSpPr>
        <p:spPr>
          <a:xfrm>
            <a:off x="707231" y="3103959"/>
            <a:ext cx="3756541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149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800" dirty="0"/>
          </a:p>
        </p:txBody>
      </p:sp>
      <p:sp>
        <p:nvSpPr>
          <p:cNvPr id="38" name="Text 34"/>
          <p:cNvSpPr/>
          <p:nvPr/>
        </p:nvSpPr>
        <p:spPr>
          <a:xfrm>
            <a:off x="707231" y="3289697"/>
            <a:ext cx="2347838" cy="38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9"/>
              </a:lnSpc>
              <a:buNone/>
            </a:pPr>
            <a:r>
              <a:rPr lang="en-US" sz="106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Design and testing are different things</a:t>
            </a:r>
            <a:endParaRPr lang="en-US" sz="1069" dirty="0"/>
          </a:p>
        </p:txBody>
      </p:sp>
      <p:sp>
        <p:nvSpPr>
          <p:cNvPr id="39" name="Text 35"/>
          <p:cNvSpPr/>
          <p:nvPr/>
        </p:nvSpPr>
        <p:spPr>
          <a:xfrm>
            <a:off x="707231" y="3699570"/>
            <a:ext cx="2347838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816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Our Ubuntu lab caught real gaps that looked fine on paper.</a:t>
            </a:r>
            <a:endParaRPr lang="en-US" sz="816" dirty="0"/>
          </a:p>
        </p:txBody>
      </p:sp>
      <p:sp>
        <p:nvSpPr>
          <p:cNvPr id="40" name="Shape 36"/>
          <p:cNvSpPr/>
          <p:nvPr/>
        </p:nvSpPr>
        <p:spPr>
          <a:xfrm>
            <a:off x="3287241" y="3103959"/>
            <a:ext cx="0" cy="1017984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1" name="Text 37"/>
          <p:cNvSpPr/>
          <p:nvPr/>
        </p:nvSpPr>
        <p:spPr>
          <a:xfrm>
            <a:off x="3519413" y="3103959"/>
            <a:ext cx="2112206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149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800" dirty="0"/>
          </a:p>
        </p:txBody>
      </p:sp>
      <p:sp>
        <p:nvSpPr>
          <p:cNvPr id="42" name="Text 38"/>
          <p:cNvSpPr/>
          <p:nvPr/>
        </p:nvSpPr>
        <p:spPr>
          <a:xfrm>
            <a:off x="3519413" y="3289697"/>
            <a:ext cx="2112206" cy="380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9"/>
              </a:lnSpc>
              <a:buNone/>
            </a:pPr>
            <a:r>
              <a:rPr lang="en-US" sz="106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document has to agree with every other</a:t>
            </a:r>
            <a:endParaRPr lang="en-US" sz="1069" dirty="0"/>
          </a:p>
        </p:txBody>
      </p:sp>
      <p:sp>
        <p:nvSpPr>
          <p:cNvPr id="43" name="Text 39"/>
          <p:cNvSpPr/>
          <p:nvPr/>
        </p:nvSpPr>
        <p:spPr>
          <a:xfrm>
            <a:off x="3519413" y="3699570"/>
            <a:ext cx="2112206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816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One VPN assumption had to be corrected across several files.</a:t>
            </a:r>
            <a:endParaRPr lang="en-US" sz="816" dirty="0"/>
          </a:p>
        </p:txBody>
      </p:sp>
      <p:sp>
        <p:nvSpPr>
          <p:cNvPr id="44" name="Shape 40"/>
          <p:cNvSpPr/>
          <p:nvPr/>
        </p:nvSpPr>
        <p:spPr>
          <a:xfrm>
            <a:off x="5863791" y="3103959"/>
            <a:ext cx="0" cy="1017984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5" name="Text 41"/>
          <p:cNvSpPr/>
          <p:nvPr/>
        </p:nvSpPr>
        <p:spPr>
          <a:xfrm>
            <a:off x="6095963" y="3103959"/>
            <a:ext cx="2340694" cy="1583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b="1" kern="0" spc="149" dirty="0">
                <a:solidFill>
                  <a:srgbClr val="FF7A4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  <p:sp>
        <p:nvSpPr>
          <p:cNvPr id="46" name="Text 42"/>
          <p:cNvSpPr/>
          <p:nvPr/>
        </p:nvSpPr>
        <p:spPr>
          <a:xfrm>
            <a:off x="6095963" y="3289697"/>
            <a:ext cx="2450422" cy="190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89"/>
              </a:lnSpc>
              <a:buNone/>
            </a:pPr>
            <a:r>
              <a:rPr lang="en-US" sz="106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Security is a system, not a checklist</a:t>
            </a:r>
            <a:endParaRPr lang="en-US" sz="1069" dirty="0"/>
          </a:p>
        </p:txBody>
      </p:sp>
      <p:sp>
        <p:nvSpPr>
          <p:cNvPr id="47" name="Text 43"/>
          <p:cNvSpPr/>
          <p:nvPr/>
        </p:nvSpPr>
        <p:spPr>
          <a:xfrm>
            <a:off x="6095963" y="3523208"/>
            <a:ext cx="2340694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64"/>
              </a:lnSpc>
              <a:buNone/>
            </a:pPr>
            <a:r>
              <a:rPr lang="en-US" sz="816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Passwords, MFA, backups and segmentation only work together.</a:t>
            </a:r>
            <a:endParaRPr lang="en-US" sz="816" dirty="0"/>
          </a:p>
        </p:txBody>
      </p:sp>
      <p:sp>
        <p:nvSpPr>
          <p:cNvPr id="48" name="Shape 44"/>
          <p:cNvSpPr/>
          <p:nvPr/>
        </p:nvSpPr>
        <p:spPr>
          <a:xfrm>
            <a:off x="457200" y="4668441"/>
            <a:ext cx="8229600" cy="0"/>
          </a:xfrm>
          <a:prstGeom prst="line">
            <a:avLst/>
          </a:prstGeom>
          <a:noFill/>
          <a:ln w="7144">
            <a:solidFill>
              <a:srgbClr val="F5EFEA"/>
            </a:solidFill>
            <a:prstDash val="solid"/>
          </a:ln>
        </p:spPr>
        <p:txBody>
          <a:bodyPr/>
          <a:lstStyle/>
          <a:p>
            <a:endParaRPr lang="en-ZA"/>
          </a:p>
        </p:txBody>
      </p:sp>
      <p:sp>
        <p:nvSpPr>
          <p:cNvPr id="49" name="Text 45"/>
          <p:cNvSpPr/>
          <p:nvPr/>
        </p:nvSpPr>
        <p:spPr>
          <a:xfrm>
            <a:off x="460772" y="4775597"/>
            <a:ext cx="178594" cy="178594"/>
          </a:xfrm>
          <a:prstGeom prst="roundRect">
            <a:avLst>
              <a:gd name="adj" fmla="val 42667"/>
            </a:avLst>
          </a:prstGeom>
          <a:solidFill>
            <a:srgbClr val="E95420">
              <a:alpha val="16000"/>
            </a:srgbClr>
          </a:solidFill>
          <a:ln w="7144">
            <a:solidFill>
              <a:srgbClr val="E95420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6"/>
          <p:cNvSpPr/>
          <p:nvPr/>
        </p:nvSpPr>
        <p:spPr>
          <a:xfrm>
            <a:off x="457200" y="4772025"/>
            <a:ext cx="228600" cy="18573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lnSpc>
                <a:spcPts val="759"/>
              </a:lnSpc>
              <a:buNone/>
            </a:pPr>
            <a:r>
              <a:rPr lang="en-US" sz="800" b="1" kern="0" spc="20" dirty="0">
                <a:solidFill>
                  <a:srgbClr val="FF7A4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BST</a:t>
            </a:r>
            <a:endParaRPr lang="en-US" sz="800" dirty="0"/>
          </a:p>
        </p:txBody>
      </p:sp>
      <p:sp>
        <p:nvSpPr>
          <p:cNvPr id="51" name="Text 47"/>
          <p:cNvSpPr/>
          <p:nvPr/>
        </p:nvSpPr>
        <p:spPr>
          <a:xfrm>
            <a:off x="728663" y="4792563"/>
            <a:ext cx="21208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Brain Sack Tech — IT Infrastructure Capstone</a:t>
            </a:r>
            <a:endParaRPr lang="en-US" sz="759" dirty="0"/>
          </a:p>
        </p:txBody>
      </p:sp>
      <p:sp>
        <p:nvSpPr>
          <p:cNvPr id="52" name="Text 48"/>
          <p:cNvSpPr/>
          <p:nvPr/>
        </p:nvSpPr>
        <p:spPr>
          <a:xfrm>
            <a:off x="8361959" y="4792563"/>
            <a:ext cx="36036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 / 10</a:t>
            </a:r>
            <a:endParaRPr lang="en-US" sz="759" dirty="0"/>
          </a:p>
        </p:txBody>
      </p:sp>
    </p:spTree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0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h2p-fit-1791279096122-og5z03.png"/>
          <p:cNvPicPr>
            <a:picLocks noChangeAspect="1"/>
          </p:cNvPicPr>
          <p:nvPr/>
        </p:nvPicPr>
        <p:blipFill>
          <a:blip r:embed="rId3">
            <a:alphaModFix amt="40000"/>
          </a:blip>
          <a:stretch>
            <a:fillRect/>
          </a:stretch>
        </p:blipFill>
        <p:spPr>
          <a:xfrm>
            <a:off x="5120729" y="0"/>
            <a:ext cx="4023271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875" y="785813"/>
            <a:ext cx="6572250" cy="34290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285875" y="785813"/>
            <a:ext cx="6572250" cy="34290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4654" y="400050"/>
            <a:ext cx="314325" cy="314325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376092" y="471488"/>
            <a:ext cx="171450" cy="1714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7F2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✦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3718992" y="492919"/>
            <a:ext cx="2711939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3"/>
              </a:lnSpc>
              <a:buNone/>
            </a:pPr>
            <a:r>
              <a:rPr lang="en-US" sz="800" kern="0" spc="203" dirty="0">
                <a:solidFill>
                  <a:srgbClr val="F5EFEA">
                    <a:alpha val="92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UBUNTU INNOVATIONS (PTY) LTD</a:t>
            </a:r>
            <a:endParaRPr lang="en-US" sz="800" dirty="0"/>
          </a:p>
        </p:txBody>
      </p:sp>
      <p:sp>
        <p:nvSpPr>
          <p:cNvPr id="8" name="Text 3"/>
          <p:cNvSpPr/>
          <p:nvPr/>
        </p:nvSpPr>
        <p:spPr>
          <a:xfrm>
            <a:off x="274320" y="1607567"/>
            <a:ext cx="8595360" cy="7298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marL="0" indent="0" algn="ctr">
              <a:lnSpc>
                <a:spcPts val="5400"/>
              </a:lnSpc>
              <a:buNone/>
            </a:pPr>
            <a:r>
              <a:rPr lang="en-US" sz="5400" b="1" kern="0" spc="-189" dirty="0">
                <a:solidFill>
                  <a:srgbClr val="F5EFE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9" name="Text 4"/>
          <p:cNvSpPr/>
          <p:nvPr/>
        </p:nvSpPr>
        <p:spPr>
          <a:xfrm>
            <a:off x="3081152" y="2364804"/>
            <a:ext cx="2981584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780"/>
              </a:lnSpc>
              <a:buNone/>
            </a:pPr>
            <a:r>
              <a:rPr lang="en-US" sz="3600" b="1" kern="0" spc="-72" dirty="0">
                <a:solidFill>
                  <a:srgbClr val="FF7A4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Questions?</a:t>
            </a:r>
            <a:endParaRPr lang="en-US" sz="3600" dirty="0"/>
          </a:p>
        </p:txBody>
      </p:sp>
      <p:sp>
        <p:nvSpPr>
          <p:cNvPr id="10" name="Text 5"/>
          <p:cNvSpPr/>
          <p:nvPr/>
        </p:nvSpPr>
        <p:spPr>
          <a:xfrm>
            <a:off x="4343400" y="3737967"/>
            <a:ext cx="457200" cy="7144"/>
          </a:xfrm>
          <a:prstGeom prst="rect">
            <a:avLst/>
          </a:prstGeom>
          <a:solidFill>
            <a:srgbClr val="F5EFEA">
              <a:alpha val="20000"/>
            </a:srgbClr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Text 6"/>
          <p:cNvSpPr/>
          <p:nvPr/>
        </p:nvSpPr>
        <p:spPr>
          <a:xfrm>
            <a:off x="3525217" y="3930848"/>
            <a:ext cx="2261050" cy="190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92"/>
              </a:lnSpc>
              <a:buNone/>
            </a:pPr>
            <a:r>
              <a:rPr lang="en-US" sz="928" kern="0" spc="28" dirty="0">
                <a:solidFill>
                  <a:srgbClr val="C0B0D2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Sinalo · Mbali · Luthando · Masibulele</a:t>
            </a:r>
            <a:endParaRPr lang="en-US" sz="928" dirty="0"/>
          </a:p>
        </p:txBody>
      </p:sp>
      <p:sp>
        <p:nvSpPr>
          <p:cNvPr id="12" name="Text 7"/>
          <p:cNvSpPr/>
          <p:nvPr/>
        </p:nvSpPr>
        <p:spPr>
          <a:xfrm>
            <a:off x="2890651" y="4179094"/>
            <a:ext cx="3362697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39"/>
              </a:lnSpc>
              <a:buNone/>
            </a:pPr>
            <a:r>
              <a:rPr lang="en-US" sz="759" dirty="0">
                <a:solidFill>
                  <a:srgbClr val="C0B0D2">
                    <a:alpha val="85000"/>
                  </a:srgbClr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Team Brain Sack Tech — Ubuntu Innovations (Pty) Ltd IT Infrastructure Project</a:t>
            </a:r>
            <a:endParaRPr lang="en-US" sz="759" dirty="0"/>
          </a:p>
        </p:txBody>
      </p:sp>
      <p:sp>
        <p:nvSpPr>
          <p:cNvPr id="13" name="Text 8"/>
          <p:cNvSpPr/>
          <p:nvPr/>
        </p:nvSpPr>
        <p:spPr>
          <a:xfrm>
            <a:off x="3786634" y="4541639"/>
            <a:ext cx="1570620" cy="241102"/>
          </a:xfrm>
          <a:prstGeom prst="roundRect">
            <a:avLst>
              <a:gd name="adj" fmla="val 3946660"/>
            </a:avLst>
          </a:prstGeom>
          <a:solidFill>
            <a:srgbClr val="FFFFFF">
              <a:alpha val="5000"/>
            </a:srgbClr>
          </a:solidFill>
          <a:ln w="7144">
            <a:solidFill>
              <a:srgbClr val="F5EFEA"/>
            </a:solidFill>
            <a:prstDash val="solid"/>
          </a:ln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4" name="Text 9"/>
          <p:cNvSpPr/>
          <p:nvPr/>
        </p:nvSpPr>
        <p:spPr>
          <a:xfrm>
            <a:off x="4047381" y="4609505"/>
            <a:ext cx="1206289" cy="122895"/>
          </a:xfrm>
          <a:prstGeom prst="rect">
            <a:avLst/>
          </a:prstGeom>
          <a:noFill/>
          <a:ln/>
        </p:spPr>
        <p:txBody>
          <a:bodyPr wrap="none" lIns="100013" tIns="50006" rIns="100013" bIns="50006" rtlCol="0" anchor="t"/>
          <a:lstStyle/>
          <a:p>
            <a:pPr marL="0" indent="0" algn="l">
              <a:lnSpc>
                <a:spcPts val="1055"/>
              </a:lnSpc>
              <a:buNone/>
            </a:pPr>
            <a:r>
              <a:rPr lang="en-US" sz="703" dirty="0">
                <a:solidFill>
                  <a:srgbClr val="F5EFE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10-minute project presentation</a:t>
            </a:r>
            <a:endParaRPr lang="en-US" sz="703" dirty="0"/>
          </a:p>
        </p:txBody>
      </p:sp>
      <p:sp>
        <p:nvSpPr>
          <p:cNvPr id="15" name="Text 10"/>
          <p:cNvSpPr/>
          <p:nvPr/>
        </p:nvSpPr>
        <p:spPr>
          <a:xfrm>
            <a:off x="3890218" y="4608612"/>
            <a:ext cx="107156" cy="1071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ctr">
              <a:buNone/>
            </a:pPr>
            <a:r>
              <a:rPr lang="en-US" sz="1055" dirty="0">
                <a:solidFill>
                  <a:srgbClr val="FF7A4D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◔</a:t>
            </a:r>
            <a:endParaRPr lang="en-US" sz="1055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ea60922a-38d8-4759-8041-4d7afebf9df9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F82FDF521A85645B936637DD30FD973" ma:contentTypeVersion="9" ma:contentTypeDescription="Create a new document." ma:contentTypeScope="" ma:versionID="3acfacb8d5f206c7ac1f70d614254bcf">
  <xsd:schema xmlns:xsd="http://www.w3.org/2001/XMLSchema" xmlns:xs="http://www.w3.org/2001/XMLSchema" xmlns:p="http://schemas.microsoft.com/office/2006/metadata/properties" xmlns:ns2="ea60922a-38d8-4759-8041-4d7afebf9df9" targetNamespace="http://schemas.microsoft.com/office/2006/metadata/properties" ma:root="true" ma:fieldsID="2321bd5453588e48c12234f935f8a3be" ns2:_="">
    <xsd:import namespace="ea60922a-38d8-4759-8041-4d7afebf9df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a60922a-38d8-4759-8041-4d7afebf9df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366b7f75-f62d-4b7a-b8a1-4b1a340ee1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38344D-A8E7-4F9D-845B-4AFBBDE31E9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1B4F9ACF-9527-4836-9602-9A44FD104142}">
  <ds:schemaRefs>
    <ds:schemaRef ds:uri="http://schemas.microsoft.com/office/2006/metadata/properties"/>
    <ds:schemaRef ds:uri="http://schemas.microsoft.com/office/infopath/2007/PartnerControls"/>
    <ds:schemaRef ds:uri="ea60922a-38d8-4759-8041-4d7afebf9df9"/>
  </ds:schemaRefs>
</ds:datastoreItem>
</file>

<file path=customXml/itemProps3.xml><?xml version="1.0" encoding="utf-8"?>
<ds:datastoreItem xmlns:ds="http://schemas.openxmlformats.org/officeDocument/2006/customXml" ds:itemID="{E639CA2F-A8BB-48EA-903C-4BA3300385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a60922a-38d8-4759-8041-4d7afebf9df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1604</Words>
  <Application>Microsoft Office PowerPoint</Application>
  <PresentationFormat>On-screen Show (16:9)</PresentationFormat>
  <Paragraphs>261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Carlito</vt:lpstr>
      <vt:lpstr>Courier New</vt:lpstr>
      <vt:lpstr>Liberation Sans Narrow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Masibulele Madikane</cp:lastModifiedBy>
  <cp:revision>5</cp:revision>
  <dcterms:created xsi:type="dcterms:W3CDTF">2026-10-06T09:31:36Z</dcterms:created>
  <dcterms:modified xsi:type="dcterms:W3CDTF">2026-10-09T07:27:05Z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0x0101001F82FDF521A85645B936637DD30FD973</vt:lpwstr>
  </property>
  <property fmtid="{D5CDD505-2E9C-101B-9397-08002B2CF9AE}" pid="3" name="MediaServiceImageTags">
    <vt:lpwstr/>
  </property>
</Properties>
</file>